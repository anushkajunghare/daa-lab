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travelling salesman problem, or TSP, is one of the most studied problems in computer science. It's easy to state, very hard to solve exactly, and a great showcase for both exact algorithms and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running example: four cities, starting at A (orange). Distances are symmetric, so A to B equals B to A. Ask the audience to guess the best tour before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Factorial growth outpaces exponential growth. Even at a billion tours per second, 20 cities would take around two years by brute force. That's why practical TSP work relies on clever exact methods and on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4 cities there are only 3 distinct tours, so we can check them all. The winner, 80, goes around the outside and skips both long diagonals. This approach is correct but O(n!), so it stops being usable past roughly a dozen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Held–Karp was published independently by Bellman and by Held and Karp in 1962. Branch and cut doesn't have a clean worst-case bound but is what serious exact solvers use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once you know which cities you've visited and where you are now, the order you visited them in no longer matters. That collapses n! orderings into 2^n subsets times n end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Heuristics trade the optimality guarantee for speed. In practice a constructive heuristic like nearest neighbour builds a tour, then a local search like 2-opt polishes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Nearest neighbour is the most intuitive heuristic. On this small example it happens to find the optimum, 80. In general there is no constant-factor guarantee: the final steps often have to backtrack across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plane, a tour with crossing edges can always be shortened by uncrossing them, which 2-opt does. The result is a local optimum: no single 2-edge swap improves it, though it may not be globally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 means distances obey the triangle inequality: going direct is never longer than going via a third city. Road distances and straight-line distances both qualify.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is a distance matrix: d[i][j] is the distance from city i to city j. Fixing city 0 removes rotations of the same tour. Swap the loop for a dictionary over (visited set, last city) and you get Held–Karp.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routing problems add constraints like time windows and vehicle capacity, giving vehicle routing problems, but TSP is the core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points,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31" y="812732"/>
            <a:ext cx="10566453" cy="502837"/>
          </a:xfrm>
          <a:prstGeom prst="rect">
            <a:avLst/>
          </a:prstGeom>
          <a:noFill/>
          <a:ln/>
        </p:spPr>
        <p:txBody>
          <a:bodyPr wrap="square" lIns="0" tIns="0" rIns="0" bIns="0" rtlCol="0" anchor="t"/>
          <a:lstStyle>
            <a:lvl1pPr algn="l" indent="0" marL="0">
              <a:lnSpc>
                <a:spcPct val="115000"/>
              </a:lnSpc>
              <a:buNone/>
              <a:defRPr lang="en-US" sz="3600" dirty="0">
                <a:solidFill>
                  <a:srgbClr val="1C1E2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31" y="1620369"/>
            <a:ext cx="10566469" cy="4424831"/>
          </a:xfrm>
          <a:prstGeom prst="rect">
            <a:avLst/>
          </a:prstGeom>
          <a:noFill/>
          <a:ln/>
        </p:spPr>
        <p:txBody>
          <a:bodyPr wrap="square" lIns="0" tIns="0" rIns="0" bIns="0" rtlCol="0" anchor="t"/>
          <a:lstStyle>
            <a:lvl1pPr algn="l" indent="0" marL="0">
              <a:lnSpc>
                <a:spcPct val="140000"/>
              </a:lnSpc>
              <a:buNone/>
              <a:defRPr lang="en-US" sz="1600" dirty="0">
                <a:solidFill>
                  <a:srgbClr val="1C1E26"/>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31" y="812732"/>
            <a:ext cx="10566453" cy="502837"/>
          </a:xfrm>
          <a:prstGeom prst="rect">
            <a:avLst/>
          </a:prstGeom>
          <a:noFill/>
          <a:ln/>
        </p:spPr>
        <p:txBody>
          <a:bodyPr wrap="square" lIns="0" tIns="0" rIns="0" bIns="0" rtlCol="0" anchor="t"/>
          <a:lstStyle>
            <a:lvl1pPr algn="l" indent="0" marL="0">
              <a:lnSpc>
                <a:spcPct val="115000"/>
              </a:lnSpc>
              <a:buNone/>
              <a:defRPr lang="en-US" sz="3600" dirty="0">
                <a:solidFill>
                  <a:srgbClr val="1C1E2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31" y="1620369"/>
            <a:ext cx="10566469" cy="4424831"/>
          </a:xfrm>
          <a:prstGeom prst="rect">
            <a:avLst/>
          </a:prstGeom>
          <a:noFill/>
          <a:ln/>
        </p:spPr>
        <p:txBody>
          <a:bodyPr wrap="square" lIns="0" tIns="0" rIns="0" bIns="0" rtlCol="0" anchor="t"/>
          <a:lstStyle>
            <a:lvl1pPr algn="l" indent="0" marL="0">
              <a:lnSpc>
                <a:spcPct val="140000"/>
              </a:lnSpc>
              <a:buNone/>
              <a:defRPr lang="en-US" sz="1600" dirty="0">
                <a:solidFill>
                  <a:srgbClr val="1C1E26"/>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F"/>
        </a:solidFill>
      </p:bgPr>
    </p:bg>
    <p:spTree>
      <p:nvGrpSpPr>
        <p:cNvPr id="1" name=""/>
        <p:cNvGrpSpPr/>
        <p:nvPr/>
      </p:nvGrpSpPr>
      <p:grpSpPr>
        <a:xfrm>
          <a:off x="0" y="0"/>
          <a:ext cx="0" cy="0"/>
          <a:chOff x="0" y="0"/>
          <a:chExt cx="0" cy="0"/>
        </a:xfrm>
      </p:grpSpPr>
      <p:pic>
        <p:nvPicPr>
          <p:cNvPr id="2" name="Image 0" descr="Seven cities joined by one closed route">    </p:cNvPr>
          <p:cNvPicPr>
            <a:picLocks noChangeAspect="1"/>
          </p:cNvPicPr>
          <p:nvPr/>
        </p:nvPicPr>
        <p:blipFill>
          <a:blip r:embed="rId1"/>
          <a:srcRect l="0" r="0" t="0" b="0"/>
          <a:stretch/>
        </p:blipFill>
        <p:spPr>
          <a:xfrm>
            <a:off x="7111979" y="1650938"/>
            <a:ext cx="4063914" cy="3555946"/>
          </a:xfrm>
          <a:prstGeom prst="rect">
            <a:avLst/>
          </a:prstGeom>
        </p:spPr>
      </p:pic>
      <p:sp>
        <p:nvSpPr>
          <p:cNvPr id="3" name="Text 0"/>
          <p:cNvSpPr/>
          <p:nvPr/>
        </p:nvSpPr>
        <p:spPr>
          <a:xfrm>
            <a:off x="812731" y="1577290"/>
            <a:ext cx="10883447" cy="2743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99CFF"/>
                </a:solidFill>
                <a:latin typeface="Inter" pitchFamily="34" charset="0"/>
                <a:ea typeface="Inter" pitchFamily="34" charset="-122"/>
                <a:cs typeface="Inter" pitchFamily="34" charset="-120"/>
              </a:rPr>
              <a:t>COMBINATORIAL OPTIMIZATION</a:t>
            </a:r>
            <a:endParaRPr lang="en-US" sz="1400" dirty="0"/>
          </a:p>
        </p:txBody>
      </p:sp>
      <p:sp>
        <p:nvSpPr>
          <p:cNvPr id="4" name="Text 1"/>
          <p:cNvSpPr/>
          <p:nvPr>
            <p:ph type="title"/>
          </p:nvPr>
        </p:nvSpPr>
        <p:spPr>
          <a:xfrm>
            <a:off x="812731" y="2080215"/>
            <a:ext cx="6278836" cy="2311515"/>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5F2EA"/>
                </a:solidFill>
                <a:latin typeface="Space Grotesk" pitchFamily="34" charset="0"/>
                <a:ea typeface="Space Grotesk" pitchFamily="34" charset="-122"/>
                <a:cs typeface="Space Grotesk" pitchFamily="34" charset="-120"/>
              </a:rPr>
              <a:t>The Travelling Salesman Problem</a:t>
            </a:r>
            <a:endParaRPr lang="en-US" sz="6000" dirty="0"/>
          </a:p>
        </p:txBody>
      </p:sp>
      <p:sp>
        <p:nvSpPr>
          <p:cNvPr id="5" name="Text 2"/>
          <p:cNvSpPr/>
          <p:nvPr/>
        </p:nvSpPr>
        <p:spPr>
          <a:xfrm>
            <a:off x="812731" y="4620313"/>
            <a:ext cx="5886387" cy="685706"/>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9B6AE"/>
                </a:solidFill>
                <a:latin typeface="Inter" pitchFamily="34" charset="0"/>
                <a:ea typeface="Inter" pitchFamily="34" charset="-122"/>
                <a:cs typeface="Inter" pitchFamily="34" charset="-120"/>
              </a:rPr>
              <a:t>Finding the shortest round trip through every city, and why it is so hard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1"/>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The problem</a:t>
            </a:r>
            <a:endParaRPr lang="en-US" sz="3600" dirty="0"/>
          </a:p>
        </p:txBody>
      </p:sp>
      <p:sp>
        <p:nvSpPr>
          <p:cNvPr id="3" name="Text 1"/>
          <p:cNvSpPr/>
          <p:nvPr/>
        </p:nvSpPr>
        <p:spPr>
          <a:xfrm>
            <a:off x="812731" y="2357675"/>
            <a:ext cx="4970730" cy="985338"/>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C1E26"/>
                </a:solidFill>
                <a:latin typeface="Inter" pitchFamily="34" charset="0"/>
                <a:ea typeface="Inter" pitchFamily="34" charset="-122"/>
                <a:cs typeface="Inter" pitchFamily="34" charset="-120"/>
              </a:rPr>
              <a:t>A salesman must visit </a:t>
            </a:r>
            <a:r>
              <a:rPr lang="en-US" sz="1800" b="1" dirty="0">
                <a:solidFill>
                  <a:srgbClr val="1C1E26"/>
                </a:solidFill>
                <a:latin typeface="Inter" pitchFamily="34" charset="0"/>
                <a:ea typeface="Inter" pitchFamily="34" charset="-122"/>
                <a:cs typeface="Inter" pitchFamily="34" charset="-120"/>
              </a:rPr>
              <a:t>every city exactly once</a:t>
            </a:r>
            <a:r>
              <a:rPr lang="en-US" sz="1800" dirty="0">
                <a:solidFill>
                  <a:srgbClr val="1C1E26"/>
                </a:solidFill>
                <a:latin typeface="Inter" pitchFamily="34" charset="0"/>
                <a:ea typeface="Inter" pitchFamily="34" charset="-122"/>
                <a:cs typeface="Inter" pitchFamily="34" charset="-120"/>
              </a:rPr>
              <a:t> and </a:t>
            </a:r>
            <a:r>
              <a:rPr lang="en-US" sz="1800" b="1" dirty="0">
                <a:solidFill>
                  <a:srgbClr val="1C1E26"/>
                </a:solidFill>
                <a:latin typeface="Inter" pitchFamily="34" charset="0"/>
                <a:ea typeface="Inter" pitchFamily="34" charset="-122"/>
                <a:cs typeface="Inter" pitchFamily="34" charset="-120"/>
              </a:rPr>
              <a:t>return home</a:t>
            </a:r>
            <a:r>
              <a:rPr lang="en-US" sz="1800" dirty="0">
                <a:solidFill>
                  <a:srgbClr val="1C1E26"/>
                </a:solidFill>
                <a:latin typeface="Inter" pitchFamily="34" charset="0"/>
                <a:ea typeface="Inter" pitchFamily="34" charset="-122"/>
                <a:cs typeface="Inter" pitchFamily="34" charset="-120"/>
              </a:rPr>
              <a:t>. Which order gives the shortest total distance?</a:t>
            </a:r>
            <a:endParaRPr lang="en-US" sz="1800" dirty="0"/>
          </a:p>
        </p:txBody>
      </p:sp>
      <p:sp>
        <p:nvSpPr>
          <p:cNvPr id="4" name="Shape 2"/>
          <p:cNvSpPr/>
          <p:nvPr/>
        </p:nvSpPr>
        <p:spPr>
          <a:xfrm>
            <a:off x="812731" y="3523907"/>
            <a:ext cx="4825952" cy="0"/>
          </a:xfrm>
          <a:prstGeom prst="line">
            <a:avLst/>
          </a:prstGeom>
          <a:noFill/>
          <a:ln w="6350">
            <a:solidFill>
              <a:srgbClr val="D6D0C3"/>
            </a:solidFill>
            <a:prstDash val="solid"/>
          </a:ln>
        </p:spPr>
      </p:sp>
      <p:sp>
        <p:nvSpPr>
          <p:cNvPr id="5" name="Text 3"/>
          <p:cNvSpPr/>
          <p:nvPr/>
        </p:nvSpPr>
        <p:spPr>
          <a:xfrm>
            <a:off x="812731" y="3669939"/>
            <a:ext cx="406342"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BD1"/>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320611" y="3653244"/>
            <a:ext cx="4442240"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E26"/>
                </a:solidFill>
                <a:latin typeface="Inter" pitchFamily="34" charset="0"/>
                <a:ea typeface="Inter" pitchFamily="34" charset="-122"/>
                <a:cs typeface="Inter" pitchFamily="34" charset="-120"/>
              </a:rPr>
              <a:t>Input: cities and the distance between each pair</a:t>
            </a:r>
            <a:endParaRPr lang="en-US" sz="1500" dirty="0"/>
          </a:p>
        </p:txBody>
      </p:sp>
      <p:sp>
        <p:nvSpPr>
          <p:cNvPr id="7" name="Shape 5"/>
          <p:cNvSpPr/>
          <p:nvPr/>
        </p:nvSpPr>
        <p:spPr>
          <a:xfrm>
            <a:off x="812731" y="4050047"/>
            <a:ext cx="4825952" cy="0"/>
          </a:xfrm>
          <a:prstGeom prst="line">
            <a:avLst/>
          </a:prstGeom>
          <a:noFill/>
          <a:ln w="6350">
            <a:solidFill>
              <a:srgbClr val="D6D0C3"/>
            </a:solidFill>
            <a:prstDash val="solid"/>
          </a:ln>
        </p:spPr>
      </p:sp>
      <p:sp>
        <p:nvSpPr>
          <p:cNvPr id="8" name="Text 6"/>
          <p:cNvSpPr/>
          <p:nvPr/>
        </p:nvSpPr>
        <p:spPr>
          <a:xfrm>
            <a:off x="812731" y="4196080"/>
            <a:ext cx="406342"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BD1"/>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1320611" y="4179384"/>
            <a:ext cx="4318071"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E26"/>
                </a:solidFill>
                <a:latin typeface="Inter" pitchFamily="34" charset="0"/>
                <a:ea typeface="Inter" pitchFamily="34" charset="-122"/>
                <a:cs typeface="Inter" pitchFamily="34" charset="-120"/>
              </a:rPr>
              <a:t>Output: a closed tour through all of them</a:t>
            </a:r>
            <a:endParaRPr lang="en-US" sz="1500" dirty="0"/>
          </a:p>
        </p:txBody>
      </p:sp>
      <p:sp>
        <p:nvSpPr>
          <p:cNvPr id="10" name="Shape 8"/>
          <p:cNvSpPr/>
          <p:nvPr/>
        </p:nvSpPr>
        <p:spPr>
          <a:xfrm>
            <a:off x="812731" y="4576187"/>
            <a:ext cx="4825952" cy="0"/>
          </a:xfrm>
          <a:prstGeom prst="line">
            <a:avLst/>
          </a:prstGeom>
          <a:noFill/>
          <a:ln w="6350">
            <a:solidFill>
              <a:srgbClr val="D6D0C3"/>
            </a:solidFill>
            <a:prstDash val="solid"/>
          </a:ln>
        </p:spPr>
      </p:sp>
      <p:sp>
        <p:nvSpPr>
          <p:cNvPr id="11" name="Shape 9"/>
          <p:cNvSpPr/>
          <p:nvPr/>
        </p:nvSpPr>
        <p:spPr>
          <a:xfrm>
            <a:off x="812731" y="5101542"/>
            <a:ext cx="4825952" cy="0"/>
          </a:xfrm>
          <a:prstGeom prst="line">
            <a:avLst/>
          </a:prstGeom>
          <a:noFill/>
          <a:ln w="6350">
            <a:solidFill>
              <a:srgbClr val="D6D0C3"/>
            </a:solidFill>
            <a:prstDash val="solid"/>
          </a:ln>
        </p:spPr>
      </p:sp>
      <p:sp>
        <p:nvSpPr>
          <p:cNvPr id="12" name="Text 10"/>
          <p:cNvSpPr/>
          <p:nvPr/>
        </p:nvSpPr>
        <p:spPr>
          <a:xfrm>
            <a:off x="812731" y="4722220"/>
            <a:ext cx="406342"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4BD1"/>
                </a:solidFill>
                <a:latin typeface="JetBrains Mono" pitchFamily="49" charset="0"/>
                <a:ea typeface="JetBrains Mono" pitchFamily="49" charset="-122"/>
                <a:cs typeface="JetBrains Mono" pitchFamily="49" charset="-120"/>
              </a:rPr>
              <a:t>03</a:t>
            </a:r>
            <a:endParaRPr lang="en-US" sz="1400" dirty="0"/>
          </a:p>
        </p:txBody>
      </p:sp>
      <p:sp>
        <p:nvSpPr>
          <p:cNvPr id="13" name="Text 11"/>
          <p:cNvSpPr/>
          <p:nvPr/>
        </p:nvSpPr>
        <p:spPr>
          <a:xfrm>
            <a:off x="1320611" y="4705525"/>
            <a:ext cx="3944930" cy="29207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1E26"/>
                </a:solidFill>
                <a:latin typeface="Inter" pitchFamily="34" charset="0"/>
                <a:ea typeface="Inter" pitchFamily="34" charset="-122"/>
                <a:cs typeface="Inter" pitchFamily="34" charset="-120"/>
              </a:rPr>
              <a:t>Goal: minimize the tour's total length</a:t>
            </a:r>
            <a:endParaRPr lang="en-US" sz="1500" dirty="0"/>
          </a:p>
        </p:txBody>
      </p:sp>
      <p:pic>
        <p:nvPicPr>
          <p:cNvPr id="14" name="Image 0" descr="Four cities A, B, C, D with distances A-B 10, A-C 15, A-D 20, B-C 35, B-D 25, C-D 30">    </p:cNvPr>
          <p:cNvPicPr>
            <a:picLocks noChangeAspect="1"/>
          </p:cNvPicPr>
          <p:nvPr/>
        </p:nvPicPr>
        <p:blipFill>
          <a:blip r:embed="rId1"/>
          <a:srcRect l="0" r="0" t="0" b="0"/>
          <a:stretch/>
        </p:blipFill>
        <p:spPr>
          <a:xfrm>
            <a:off x="6146650" y="1749975"/>
            <a:ext cx="4571968" cy="3962355"/>
          </a:xfrm>
          <a:prstGeom prst="rect">
            <a:avLst/>
          </a:prstGeom>
        </p:spPr>
      </p:pic>
      <p:sp>
        <p:nvSpPr>
          <p:cNvPr id="15" name="Text 12"/>
          <p:cNvSpPr/>
          <p:nvPr/>
        </p:nvSpPr>
        <p:spPr>
          <a:xfrm>
            <a:off x="812731" y="6238297"/>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Why it is hard</a:t>
            </a:r>
            <a:endParaRPr lang="en-US" sz="3600" dirty="0"/>
          </a:p>
        </p:txBody>
      </p:sp>
      <p:sp>
        <p:nvSpPr>
          <p:cNvPr id="3" name="Text 1"/>
          <p:cNvSpPr/>
          <p:nvPr/>
        </p:nvSpPr>
        <p:spPr>
          <a:xfrm>
            <a:off x="812731" y="2242900"/>
            <a:ext cx="4578281" cy="838218"/>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5A4BD1"/>
                </a:solidFill>
                <a:latin typeface="Space Grotesk" pitchFamily="34" charset="0"/>
                <a:ea typeface="Space Grotesk" pitchFamily="34" charset="-122"/>
                <a:cs typeface="Space Grotesk" pitchFamily="34" charset="-120"/>
              </a:rPr>
              <a:t>(n−1)!/2</a:t>
            </a:r>
            <a:endParaRPr lang="en-US" sz="6400" dirty="0"/>
          </a:p>
        </p:txBody>
      </p:sp>
      <p:sp>
        <p:nvSpPr>
          <p:cNvPr id="4" name="Text 2"/>
          <p:cNvSpPr/>
          <p:nvPr/>
        </p:nvSpPr>
        <p:spPr>
          <a:xfrm>
            <a:off x="812731" y="3157277"/>
            <a:ext cx="4578281" cy="87865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04A"/>
                </a:solidFill>
                <a:latin typeface="Inter" pitchFamily="34" charset="0"/>
                <a:ea typeface="Inter" pitchFamily="34" charset="-122"/>
                <a:cs typeface="Inter" pitchFamily="34" charset="-120"/>
              </a:rPr>
              <a:t>distinct round trips for n cities: fix the start, order the rest, and each tour counts twice (once per direction).</a:t>
            </a:r>
            <a:endParaRPr lang="en-US" sz="1600" dirty="0"/>
          </a:p>
        </p:txBody>
      </p:sp>
      <p:sp>
        <p:nvSpPr>
          <p:cNvPr id="5" name="Shape 3"/>
          <p:cNvSpPr/>
          <p:nvPr/>
        </p:nvSpPr>
        <p:spPr>
          <a:xfrm>
            <a:off x="5765631" y="1937834"/>
            <a:ext cx="5613553" cy="0"/>
          </a:xfrm>
          <a:prstGeom prst="line">
            <a:avLst/>
          </a:prstGeom>
          <a:noFill/>
          <a:ln w="6350">
            <a:solidFill>
              <a:srgbClr val="D6D0C3"/>
            </a:solidFill>
            <a:prstDash val="solid"/>
          </a:ln>
        </p:spPr>
      </p:sp>
      <p:sp>
        <p:nvSpPr>
          <p:cNvPr id="6" name="Text 4"/>
          <p:cNvSpPr/>
          <p:nvPr/>
        </p:nvSpPr>
        <p:spPr>
          <a:xfrm>
            <a:off x="5765631" y="2092562"/>
            <a:ext cx="834103"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1E26"/>
                </a:solidFill>
                <a:latin typeface="Inter" pitchFamily="34" charset="0"/>
                <a:ea typeface="Inter" pitchFamily="34" charset="-122"/>
                <a:cs typeface="Inter" pitchFamily="34" charset="-120"/>
              </a:rPr>
              <a:t>4 cities</a:t>
            </a:r>
            <a:endParaRPr lang="en-US" sz="1600" dirty="0"/>
          </a:p>
        </p:txBody>
      </p:sp>
      <p:sp>
        <p:nvSpPr>
          <p:cNvPr id="7" name="Text 5"/>
          <p:cNvSpPr/>
          <p:nvPr/>
        </p:nvSpPr>
        <p:spPr>
          <a:xfrm>
            <a:off x="10355180" y="2092562"/>
            <a:ext cx="1024004" cy="309817"/>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3 tours</a:t>
            </a:r>
            <a:endParaRPr lang="en-US" sz="1600" dirty="0"/>
          </a:p>
        </p:txBody>
      </p:sp>
      <p:sp>
        <p:nvSpPr>
          <p:cNvPr id="8" name="Shape 6"/>
          <p:cNvSpPr/>
          <p:nvPr/>
        </p:nvSpPr>
        <p:spPr>
          <a:xfrm>
            <a:off x="5765631" y="2532492"/>
            <a:ext cx="5613553" cy="0"/>
          </a:xfrm>
          <a:prstGeom prst="line">
            <a:avLst/>
          </a:prstGeom>
          <a:noFill/>
          <a:ln w="6350">
            <a:solidFill>
              <a:srgbClr val="D6D0C3"/>
            </a:solidFill>
            <a:prstDash val="solid"/>
          </a:ln>
        </p:spPr>
      </p:sp>
      <p:sp>
        <p:nvSpPr>
          <p:cNvPr id="9" name="Text 7"/>
          <p:cNvSpPr/>
          <p:nvPr/>
        </p:nvSpPr>
        <p:spPr>
          <a:xfrm>
            <a:off x="5765631" y="2687220"/>
            <a:ext cx="929575"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1E26"/>
                </a:solidFill>
                <a:latin typeface="Inter" pitchFamily="34" charset="0"/>
                <a:ea typeface="Inter" pitchFamily="34" charset="-122"/>
                <a:cs typeface="Inter" pitchFamily="34" charset="-120"/>
              </a:rPr>
              <a:t>10 cities</a:t>
            </a:r>
            <a:endParaRPr lang="en-US" sz="1600" dirty="0"/>
          </a:p>
        </p:txBody>
      </p:sp>
      <p:sp>
        <p:nvSpPr>
          <p:cNvPr id="10" name="Text 8"/>
          <p:cNvSpPr/>
          <p:nvPr/>
        </p:nvSpPr>
        <p:spPr>
          <a:xfrm>
            <a:off x="10355180" y="2687220"/>
            <a:ext cx="1024004" cy="309817"/>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181,440</a:t>
            </a:r>
            <a:endParaRPr lang="en-US" sz="1600" dirty="0"/>
          </a:p>
        </p:txBody>
      </p:sp>
      <p:sp>
        <p:nvSpPr>
          <p:cNvPr id="11" name="Shape 9"/>
          <p:cNvSpPr/>
          <p:nvPr/>
        </p:nvSpPr>
        <p:spPr>
          <a:xfrm>
            <a:off x="5765631" y="3127149"/>
            <a:ext cx="5613553" cy="0"/>
          </a:xfrm>
          <a:prstGeom prst="line">
            <a:avLst/>
          </a:prstGeom>
          <a:noFill/>
          <a:ln w="6350">
            <a:solidFill>
              <a:srgbClr val="D6D0C3"/>
            </a:solidFill>
            <a:prstDash val="solid"/>
          </a:ln>
        </p:spPr>
      </p:sp>
      <p:sp>
        <p:nvSpPr>
          <p:cNvPr id="12" name="Text 10"/>
          <p:cNvSpPr/>
          <p:nvPr/>
        </p:nvSpPr>
        <p:spPr>
          <a:xfrm>
            <a:off x="5765631" y="3281877"/>
            <a:ext cx="920393"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1E26"/>
                </a:solidFill>
                <a:latin typeface="Inter" pitchFamily="34" charset="0"/>
                <a:ea typeface="Inter" pitchFamily="34" charset="-122"/>
                <a:cs typeface="Inter" pitchFamily="34" charset="-120"/>
              </a:rPr>
              <a:t>15 cities</a:t>
            </a:r>
            <a:endParaRPr lang="en-US" sz="1600" dirty="0"/>
          </a:p>
        </p:txBody>
      </p:sp>
      <p:sp>
        <p:nvSpPr>
          <p:cNvPr id="13" name="Text 11"/>
          <p:cNvSpPr/>
          <p:nvPr/>
        </p:nvSpPr>
        <p:spPr>
          <a:xfrm>
            <a:off x="9782243" y="3281877"/>
            <a:ext cx="1596941" cy="309817"/>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~4.4 × 10¹⁰</a:t>
            </a:r>
            <a:endParaRPr lang="en-US" sz="1600" dirty="0"/>
          </a:p>
        </p:txBody>
      </p:sp>
      <p:sp>
        <p:nvSpPr>
          <p:cNvPr id="14" name="Shape 12"/>
          <p:cNvSpPr/>
          <p:nvPr/>
        </p:nvSpPr>
        <p:spPr>
          <a:xfrm>
            <a:off x="5765631" y="3721807"/>
            <a:ext cx="5613553" cy="0"/>
          </a:xfrm>
          <a:prstGeom prst="line">
            <a:avLst/>
          </a:prstGeom>
          <a:noFill/>
          <a:ln w="6350">
            <a:solidFill>
              <a:srgbClr val="D6D0C3"/>
            </a:solidFill>
            <a:prstDash val="solid"/>
          </a:ln>
        </p:spPr>
      </p:sp>
      <p:sp>
        <p:nvSpPr>
          <p:cNvPr id="15" name="Shape 13"/>
          <p:cNvSpPr/>
          <p:nvPr/>
        </p:nvSpPr>
        <p:spPr>
          <a:xfrm>
            <a:off x="5765631" y="4315679"/>
            <a:ext cx="5613553" cy="0"/>
          </a:xfrm>
          <a:prstGeom prst="line">
            <a:avLst/>
          </a:prstGeom>
          <a:noFill/>
          <a:ln w="6350">
            <a:solidFill>
              <a:srgbClr val="D6D0C3"/>
            </a:solidFill>
            <a:prstDash val="solid"/>
          </a:ln>
        </p:spPr>
      </p:sp>
      <p:sp>
        <p:nvSpPr>
          <p:cNvPr id="16" name="Text 14"/>
          <p:cNvSpPr/>
          <p:nvPr/>
        </p:nvSpPr>
        <p:spPr>
          <a:xfrm>
            <a:off x="5765631" y="3876535"/>
            <a:ext cx="979137"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C1E26"/>
                </a:solidFill>
                <a:latin typeface="Inter" pitchFamily="34" charset="0"/>
                <a:ea typeface="Inter" pitchFamily="34" charset="-122"/>
                <a:cs typeface="Inter" pitchFamily="34" charset="-120"/>
              </a:rPr>
              <a:t>20 cities</a:t>
            </a:r>
            <a:endParaRPr lang="en-US" sz="1600" dirty="0"/>
          </a:p>
        </p:txBody>
      </p:sp>
      <p:sp>
        <p:nvSpPr>
          <p:cNvPr id="17" name="Text 15"/>
          <p:cNvSpPr/>
          <p:nvPr/>
        </p:nvSpPr>
        <p:spPr>
          <a:xfrm>
            <a:off x="9782243" y="3876535"/>
            <a:ext cx="1596941" cy="309817"/>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C4551F"/>
                </a:solidFill>
                <a:latin typeface="JetBrains Mono" pitchFamily="49" charset="0"/>
                <a:ea typeface="JetBrains Mono" pitchFamily="49" charset="-122"/>
                <a:cs typeface="JetBrains Mono" pitchFamily="49" charset="-120"/>
              </a:rPr>
              <a:t>~6.1 × 10¹⁶</a:t>
            </a:r>
            <a:endParaRPr lang="en-US" sz="1600" dirty="0"/>
          </a:p>
        </p:txBody>
      </p:sp>
      <p:sp>
        <p:nvSpPr>
          <p:cNvPr id="18" name="Shape 16"/>
          <p:cNvSpPr/>
          <p:nvPr/>
        </p:nvSpPr>
        <p:spPr>
          <a:xfrm>
            <a:off x="812731" y="4937945"/>
            <a:ext cx="10566453" cy="904116"/>
          </a:xfrm>
          <a:prstGeom prst="roundRect">
            <a:avLst>
              <a:gd name="adj" fmla="val 11237"/>
            </a:avLst>
          </a:prstGeom>
          <a:solidFill>
            <a:srgbClr val="14161F"/>
          </a:solidFill>
          <a:ln/>
        </p:spPr>
      </p:sp>
      <p:sp>
        <p:nvSpPr>
          <p:cNvPr id="19" name="Text 17"/>
          <p:cNvSpPr/>
          <p:nvPr/>
        </p:nvSpPr>
        <p:spPr>
          <a:xfrm>
            <a:off x="1117494" y="5247751"/>
            <a:ext cx="157478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99CFF"/>
                </a:solidFill>
                <a:latin typeface="Space Grotesk" pitchFamily="34" charset="0"/>
                <a:ea typeface="Space Grotesk" pitchFamily="34" charset="-122"/>
                <a:cs typeface="Space Grotesk" pitchFamily="34" charset="-120"/>
              </a:rPr>
              <a:t>NP-hard</a:t>
            </a:r>
            <a:endParaRPr lang="en-US" sz="1600" dirty="0"/>
          </a:p>
        </p:txBody>
      </p:sp>
      <p:sp>
        <p:nvSpPr>
          <p:cNvPr id="20" name="Text 18"/>
          <p:cNvSpPr/>
          <p:nvPr/>
        </p:nvSpPr>
        <p:spPr>
          <a:xfrm>
            <a:off x="2895467" y="5141063"/>
            <a:ext cx="8424323"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5BC"/>
                </a:solidFill>
                <a:latin typeface="Inter" pitchFamily="34" charset="0"/>
                <a:ea typeface="Inter" pitchFamily="34" charset="-122"/>
                <a:cs typeface="Inter" pitchFamily="34" charset="-120"/>
              </a:rPr>
              <a:t>No known algorithm solves every instance in polynomial time, and finding one would settle P vs NP.</a:t>
            </a:r>
            <a:endParaRPr lang="en-US" sz="1400" dirty="0"/>
          </a:p>
        </p:txBody>
      </p:sp>
      <p:sp>
        <p:nvSpPr>
          <p:cNvPr id="21" name="Text 19"/>
          <p:cNvSpPr/>
          <p:nvPr/>
        </p:nvSpPr>
        <p:spPr>
          <a:xfrm>
            <a:off x="812731" y="6238297"/>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Brute force on our example</a:t>
            </a:r>
            <a:endParaRPr lang="en-US" sz="3600" dirty="0"/>
          </a:p>
        </p:txBody>
      </p:sp>
      <p:sp>
        <p:nvSpPr>
          <p:cNvPr id="3" name="Shape 1"/>
          <p:cNvSpPr/>
          <p:nvPr/>
        </p:nvSpPr>
        <p:spPr>
          <a:xfrm>
            <a:off x="815906" y="2131909"/>
            <a:ext cx="6089868" cy="977326"/>
          </a:xfrm>
          <a:prstGeom prst="roundRect">
            <a:avLst>
              <a:gd name="adj" fmla="val 7472"/>
            </a:avLst>
          </a:prstGeom>
          <a:solidFill>
            <a:srgbClr val="FFFFFF"/>
          </a:solidFill>
          <a:ln w="6350">
            <a:solidFill>
              <a:srgbClr val="E2DDD1"/>
            </a:solidFill>
            <a:prstDash val="solid"/>
          </a:ln>
        </p:spPr>
      </p:sp>
      <p:sp>
        <p:nvSpPr>
          <p:cNvPr id="4" name="Text 2"/>
          <p:cNvSpPr/>
          <p:nvPr/>
        </p:nvSpPr>
        <p:spPr>
          <a:xfrm>
            <a:off x="1072279" y="2337417"/>
            <a:ext cx="2437931"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A → B → C → D → A</a:t>
            </a:r>
            <a:endParaRPr lang="en-US" sz="1600" dirty="0"/>
          </a:p>
        </p:txBody>
      </p:sp>
      <p:sp>
        <p:nvSpPr>
          <p:cNvPr id="5" name="Text 3"/>
          <p:cNvSpPr/>
          <p:nvPr/>
        </p:nvSpPr>
        <p:spPr>
          <a:xfrm>
            <a:off x="1072279" y="2672612"/>
            <a:ext cx="2092557" cy="25651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5F6B"/>
                </a:solidFill>
                <a:latin typeface="Inter" pitchFamily="34" charset="0"/>
                <a:ea typeface="Inter" pitchFamily="34" charset="-122"/>
                <a:cs typeface="Inter" pitchFamily="34" charset="-120"/>
              </a:rPr>
              <a:t>10 + 35 + 30 + 20</a:t>
            </a:r>
            <a:endParaRPr lang="en-US" sz="1300" dirty="0"/>
          </a:p>
        </p:txBody>
      </p:sp>
      <p:sp>
        <p:nvSpPr>
          <p:cNvPr id="6" name="Text 4"/>
          <p:cNvSpPr/>
          <p:nvPr/>
        </p:nvSpPr>
        <p:spPr>
          <a:xfrm>
            <a:off x="6129573" y="2371589"/>
            <a:ext cx="519828" cy="523281"/>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5B5F6B"/>
                </a:solidFill>
                <a:latin typeface="Space Grotesk" pitchFamily="34" charset="0"/>
                <a:ea typeface="Space Grotesk" pitchFamily="34" charset="-122"/>
                <a:cs typeface="Space Grotesk" pitchFamily="34" charset="-120"/>
              </a:rPr>
              <a:t>95</a:t>
            </a:r>
            <a:endParaRPr lang="en-US" sz="2800" dirty="0"/>
          </a:p>
        </p:txBody>
      </p:sp>
      <p:sp>
        <p:nvSpPr>
          <p:cNvPr id="7" name="Shape 5"/>
          <p:cNvSpPr/>
          <p:nvPr/>
        </p:nvSpPr>
        <p:spPr>
          <a:xfrm>
            <a:off x="815906" y="3242534"/>
            <a:ext cx="6089868" cy="977326"/>
          </a:xfrm>
          <a:prstGeom prst="roundRect">
            <a:avLst>
              <a:gd name="adj" fmla="val 7472"/>
            </a:avLst>
          </a:prstGeom>
          <a:solidFill>
            <a:srgbClr val="FFFFFF"/>
          </a:solidFill>
          <a:ln w="6350">
            <a:solidFill>
              <a:srgbClr val="E2DDD1"/>
            </a:solidFill>
            <a:prstDash val="solid"/>
          </a:ln>
        </p:spPr>
      </p:sp>
      <p:sp>
        <p:nvSpPr>
          <p:cNvPr id="8" name="Text 6"/>
          <p:cNvSpPr/>
          <p:nvPr/>
        </p:nvSpPr>
        <p:spPr>
          <a:xfrm>
            <a:off x="1072279" y="3448041"/>
            <a:ext cx="222644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A → B → D → C → A</a:t>
            </a:r>
            <a:endParaRPr lang="en-US" sz="1600" dirty="0"/>
          </a:p>
        </p:txBody>
      </p:sp>
      <p:sp>
        <p:nvSpPr>
          <p:cNvPr id="9" name="Text 7"/>
          <p:cNvSpPr/>
          <p:nvPr/>
        </p:nvSpPr>
        <p:spPr>
          <a:xfrm>
            <a:off x="1072279" y="3783237"/>
            <a:ext cx="2593921" cy="25651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A4BD1"/>
                </a:solidFill>
                <a:latin typeface="Inter" pitchFamily="34" charset="0"/>
                <a:ea typeface="Inter" pitchFamily="34" charset="-122"/>
                <a:cs typeface="Inter" pitchFamily="34" charset="-120"/>
              </a:rPr>
              <a:t>10 + 25 + 30 + 15 · shortest</a:t>
            </a:r>
            <a:endParaRPr lang="en-US" sz="1300" dirty="0"/>
          </a:p>
        </p:txBody>
      </p:sp>
      <p:sp>
        <p:nvSpPr>
          <p:cNvPr id="10" name="Text 8"/>
          <p:cNvSpPr/>
          <p:nvPr/>
        </p:nvSpPr>
        <p:spPr>
          <a:xfrm>
            <a:off x="6116843" y="3482212"/>
            <a:ext cx="532557" cy="523281"/>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5A4BD1"/>
                </a:solidFill>
                <a:latin typeface="Space Grotesk" pitchFamily="34" charset="0"/>
                <a:ea typeface="Space Grotesk" pitchFamily="34" charset="-122"/>
                <a:cs typeface="Space Grotesk" pitchFamily="34" charset="-120"/>
              </a:rPr>
              <a:t>80</a:t>
            </a:r>
            <a:endParaRPr lang="en-US" sz="2800" dirty="0"/>
          </a:p>
        </p:txBody>
      </p:sp>
      <p:sp>
        <p:nvSpPr>
          <p:cNvPr id="11" name="Shape 9"/>
          <p:cNvSpPr/>
          <p:nvPr/>
        </p:nvSpPr>
        <p:spPr>
          <a:xfrm>
            <a:off x="815906" y="4353158"/>
            <a:ext cx="6089868" cy="977326"/>
          </a:xfrm>
          <a:prstGeom prst="roundRect">
            <a:avLst>
              <a:gd name="adj" fmla="val 7472"/>
            </a:avLst>
          </a:prstGeom>
          <a:solidFill>
            <a:srgbClr val="FFFFFF"/>
          </a:solidFill>
          <a:ln w="6350">
            <a:solidFill>
              <a:srgbClr val="E2DDD1"/>
            </a:solidFill>
            <a:prstDash val="solid"/>
          </a:ln>
        </p:spPr>
      </p:sp>
      <p:sp>
        <p:nvSpPr>
          <p:cNvPr id="12" name="Text 10"/>
          <p:cNvSpPr/>
          <p:nvPr/>
        </p:nvSpPr>
        <p:spPr>
          <a:xfrm>
            <a:off x="1072279" y="4558666"/>
            <a:ext cx="2437931"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A → C → B → D → A</a:t>
            </a:r>
            <a:endParaRPr lang="en-US" sz="1600" dirty="0"/>
          </a:p>
        </p:txBody>
      </p:sp>
      <p:sp>
        <p:nvSpPr>
          <p:cNvPr id="13" name="Text 11"/>
          <p:cNvSpPr/>
          <p:nvPr/>
        </p:nvSpPr>
        <p:spPr>
          <a:xfrm>
            <a:off x="1072279" y="4893861"/>
            <a:ext cx="2092557" cy="25651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5F6B"/>
                </a:solidFill>
                <a:latin typeface="Inter" pitchFamily="34" charset="0"/>
                <a:ea typeface="Inter" pitchFamily="34" charset="-122"/>
                <a:cs typeface="Inter" pitchFamily="34" charset="-120"/>
              </a:rPr>
              <a:t>15 + 35 + 25 + 20</a:t>
            </a:r>
            <a:endParaRPr lang="en-US" sz="1300" dirty="0"/>
          </a:p>
        </p:txBody>
      </p:sp>
      <p:sp>
        <p:nvSpPr>
          <p:cNvPr id="14" name="Text 12"/>
          <p:cNvSpPr/>
          <p:nvPr/>
        </p:nvSpPr>
        <p:spPr>
          <a:xfrm>
            <a:off x="6129573" y="4592837"/>
            <a:ext cx="519828" cy="523281"/>
          </a:xfrm>
          <a:prstGeom prst="rect">
            <a:avLst/>
          </a:prstGeom>
          <a:noFill/>
          <a:ln/>
        </p:spPr>
        <p:txBody>
          <a:bodyPr wrap="square" lIns="0" tIns="0" rIns="0" bIns="0" rtlCol="0" anchor="t">
            <a:normAutofit/>
          </a:bodyPr>
          <a:lstStyle/>
          <a:p>
            <a:pPr algn="r" indent="0" marL="0">
              <a:lnSpc>
                <a:spcPts val="3920"/>
              </a:lnSpc>
              <a:buNone/>
            </a:pPr>
            <a:r>
              <a:rPr lang="en-US" sz="2800" b="1" dirty="0">
                <a:solidFill>
                  <a:srgbClr val="5B5F6B"/>
                </a:solidFill>
                <a:latin typeface="Space Grotesk" pitchFamily="34" charset="0"/>
                <a:ea typeface="Space Grotesk" pitchFamily="34" charset="-122"/>
                <a:cs typeface="Space Grotesk" pitchFamily="34" charset="-120"/>
              </a:rPr>
              <a:t>95</a:t>
            </a:r>
            <a:endParaRPr lang="en-US" sz="2800" dirty="0"/>
          </a:p>
        </p:txBody>
      </p:sp>
      <p:pic>
        <p:nvPicPr>
          <p:cNvPr id="15" name="Image 0" descr="The optimal tour A-B-D-C-A drawn around the outside of the four cities; the diagonals are unused">    </p:cNvPr>
          <p:cNvPicPr>
            <a:picLocks noChangeAspect="1"/>
          </p:cNvPicPr>
          <p:nvPr/>
        </p:nvPicPr>
        <p:blipFill>
          <a:blip r:embed="rId1"/>
          <a:srcRect l="0" r="0" t="0" b="0"/>
          <a:stretch/>
        </p:blipFill>
        <p:spPr>
          <a:xfrm>
            <a:off x="7315271" y="1969092"/>
            <a:ext cx="4063914" cy="3524209"/>
          </a:xfrm>
          <a:prstGeom prst="rect">
            <a:avLst/>
          </a:prstGeom>
        </p:spPr>
      </p:pic>
      <p:sp>
        <p:nvSpPr>
          <p:cNvPr id="16" name="Text 13"/>
          <p:cNvSpPr/>
          <p:nvPr/>
        </p:nvSpPr>
        <p:spPr>
          <a:xfrm>
            <a:off x="812731" y="6238297"/>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Exact methods: always optimal</a:t>
            </a:r>
            <a:endParaRPr lang="en-US" sz="3600" dirty="0"/>
          </a:p>
        </p:txBody>
      </p:sp>
      <p:sp>
        <p:nvSpPr>
          <p:cNvPr id="3" name="Shape 1"/>
          <p:cNvSpPr/>
          <p:nvPr/>
        </p:nvSpPr>
        <p:spPr>
          <a:xfrm>
            <a:off x="815906" y="1623507"/>
            <a:ext cx="3380390" cy="3219965"/>
          </a:xfrm>
          <a:prstGeom prst="roundRect">
            <a:avLst>
              <a:gd name="adj" fmla="val 3057"/>
            </a:avLst>
          </a:prstGeom>
          <a:solidFill>
            <a:srgbClr val="FFFFFF"/>
          </a:solidFill>
          <a:ln w="6350">
            <a:solidFill>
              <a:srgbClr val="E2DDD1"/>
            </a:solidFill>
            <a:prstDash val="solid"/>
          </a:ln>
        </p:spPr>
      </p:sp>
      <p:sp>
        <p:nvSpPr>
          <p:cNvPr id="4" name="Text 2"/>
          <p:cNvSpPr/>
          <p:nvPr/>
        </p:nvSpPr>
        <p:spPr>
          <a:xfrm>
            <a:off x="1123058" y="1930660"/>
            <a:ext cx="2849066"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E26"/>
                </a:solidFill>
                <a:latin typeface="Space Grotesk" pitchFamily="34" charset="0"/>
                <a:ea typeface="Space Grotesk" pitchFamily="34" charset="-122"/>
                <a:cs typeface="Space Grotesk" pitchFamily="34" charset="-120"/>
              </a:rPr>
              <a:t>Brute force</a:t>
            </a:r>
            <a:endParaRPr lang="en-US" sz="2000" dirty="0"/>
          </a:p>
        </p:txBody>
      </p:sp>
      <p:sp>
        <p:nvSpPr>
          <p:cNvPr id="5" name="Text 3"/>
          <p:cNvSpPr/>
          <p:nvPr/>
        </p:nvSpPr>
        <p:spPr>
          <a:xfrm>
            <a:off x="1123058" y="2799125"/>
            <a:ext cx="2849066" cy="452068"/>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C4551F"/>
                </a:solidFill>
                <a:latin typeface="JetBrains Mono" pitchFamily="49" charset="0"/>
                <a:ea typeface="JetBrains Mono" pitchFamily="49" charset="-122"/>
                <a:cs typeface="JetBrains Mono" pitchFamily="49" charset="-120"/>
              </a:rPr>
              <a:t>O(n!)</a:t>
            </a:r>
            <a:endParaRPr lang="en-US" sz="2400" dirty="0"/>
          </a:p>
        </p:txBody>
      </p:sp>
      <p:sp>
        <p:nvSpPr>
          <p:cNvPr id="6" name="Text 4"/>
          <p:cNvSpPr/>
          <p:nvPr/>
        </p:nvSpPr>
        <p:spPr>
          <a:xfrm>
            <a:off x="1123058" y="3789499"/>
            <a:ext cx="2849066" cy="7722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Try every ordering. Simple, but only practical for about a dozen cities.</a:t>
            </a:r>
            <a:endParaRPr lang="en-US" sz="1400" dirty="0"/>
          </a:p>
        </p:txBody>
      </p:sp>
      <p:sp>
        <p:nvSpPr>
          <p:cNvPr id="7" name="Shape 5"/>
          <p:cNvSpPr/>
          <p:nvPr/>
        </p:nvSpPr>
        <p:spPr>
          <a:xfrm>
            <a:off x="4405762" y="1623507"/>
            <a:ext cx="3380390" cy="3219965"/>
          </a:xfrm>
          <a:prstGeom prst="roundRect">
            <a:avLst>
              <a:gd name="adj" fmla="val 3057"/>
            </a:avLst>
          </a:prstGeom>
          <a:solidFill>
            <a:srgbClr val="FFFFFF"/>
          </a:solidFill>
          <a:ln w="6350">
            <a:solidFill>
              <a:srgbClr val="E2DDD1"/>
            </a:solidFill>
            <a:prstDash val="solid"/>
          </a:ln>
        </p:spPr>
      </p:sp>
      <p:sp>
        <p:nvSpPr>
          <p:cNvPr id="8" name="Text 6"/>
          <p:cNvSpPr/>
          <p:nvPr/>
        </p:nvSpPr>
        <p:spPr>
          <a:xfrm>
            <a:off x="4712915" y="1930660"/>
            <a:ext cx="2849066"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E26"/>
                </a:solidFill>
                <a:latin typeface="Space Grotesk" pitchFamily="34" charset="0"/>
                <a:ea typeface="Space Grotesk" pitchFamily="34" charset="-122"/>
                <a:cs typeface="Space Grotesk" pitchFamily="34" charset="-120"/>
              </a:rPr>
              <a:t>Held–Karp</a:t>
            </a:r>
            <a:endParaRPr lang="en-US" sz="2000" dirty="0"/>
          </a:p>
        </p:txBody>
      </p:sp>
      <p:sp>
        <p:nvSpPr>
          <p:cNvPr id="9" name="Text 7"/>
          <p:cNvSpPr/>
          <p:nvPr/>
        </p:nvSpPr>
        <p:spPr>
          <a:xfrm>
            <a:off x="4712915" y="2799125"/>
            <a:ext cx="2849066" cy="452068"/>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5A4BD1"/>
                </a:solidFill>
                <a:latin typeface="JetBrains Mono" pitchFamily="49" charset="0"/>
                <a:ea typeface="JetBrains Mono" pitchFamily="49" charset="-122"/>
                <a:cs typeface="JetBrains Mono" pitchFamily="49" charset="-120"/>
              </a:rPr>
              <a:t>O(n²·2ⁿ)</a:t>
            </a:r>
            <a:endParaRPr lang="en-US" sz="2400" dirty="0"/>
          </a:p>
        </p:txBody>
      </p:sp>
      <p:sp>
        <p:nvSpPr>
          <p:cNvPr id="10" name="Text 8"/>
          <p:cNvSpPr/>
          <p:nvPr/>
        </p:nvSpPr>
        <p:spPr>
          <a:xfrm>
            <a:off x="4712915" y="3789499"/>
            <a:ext cx="2849066" cy="7722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Dynamic programming over subsets of cities (1962). Still exponential, but far less than n!.</a:t>
            </a:r>
            <a:endParaRPr lang="en-US" sz="1400" dirty="0"/>
          </a:p>
        </p:txBody>
      </p:sp>
      <p:sp>
        <p:nvSpPr>
          <p:cNvPr id="11" name="Shape 9"/>
          <p:cNvSpPr/>
          <p:nvPr/>
        </p:nvSpPr>
        <p:spPr>
          <a:xfrm>
            <a:off x="7995620" y="1623507"/>
            <a:ext cx="3380390" cy="3219965"/>
          </a:xfrm>
          <a:prstGeom prst="roundRect">
            <a:avLst>
              <a:gd name="adj" fmla="val 3057"/>
            </a:avLst>
          </a:prstGeom>
          <a:solidFill>
            <a:srgbClr val="FFFFFF"/>
          </a:solidFill>
          <a:ln w="6350">
            <a:solidFill>
              <a:srgbClr val="E2DDD1"/>
            </a:solidFill>
            <a:prstDash val="solid"/>
          </a:ln>
        </p:spPr>
      </p:sp>
      <p:sp>
        <p:nvSpPr>
          <p:cNvPr id="12" name="Text 10"/>
          <p:cNvSpPr/>
          <p:nvPr/>
        </p:nvSpPr>
        <p:spPr>
          <a:xfrm>
            <a:off x="8302772" y="1930660"/>
            <a:ext cx="2849066" cy="330163"/>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1E26"/>
                </a:solidFill>
                <a:latin typeface="Space Grotesk" pitchFamily="34" charset="0"/>
                <a:ea typeface="Space Grotesk" pitchFamily="34" charset="-122"/>
                <a:cs typeface="Space Grotesk" pitchFamily="34" charset="-120"/>
              </a:rPr>
              <a:t>Branch and cut</a:t>
            </a:r>
            <a:endParaRPr lang="en-US" sz="2000" dirty="0"/>
          </a:p>
        </p:txBody>
      </p:sp>
      <p:sp>
        <p:nvSpPr>
          <p:cNvPr id="13" name="Text 11"/>
          <p:cNvSpPr/>
          <p:nvPr/>
        </p:nvSpPr>
        <p:spPr>
          <a:xfrm>
            <a:off x="8302772" y="2674699"/>
            <a:ext cx="2849066" cy="452068"/>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A6EA5"/>
                </a:solidFill>
                <a:latin typeface="JetBrains Mono" pitchFamily="49" charset="0"/>
                <a:ea typeface="JetBrains Mono" pitchFamily="49" charset="-122"/>
                <a:cs typeface="JetBrains Mono" pitchFamily="49" charset="-120"/>
              </a:rPr>
              <a:t>varies</a:t>
            </a:r>
            <a:endParaRPr lang="en-US" sz="2400" dirty="0"/>
          </a:p>
        </p:txBody>
      </p:sp>
      <p:sp>
        <p:nvSpPr>
          <p:cNvPr id="14" name="Text 12"/>
          <p:cNvSpPr/>
          <p:nvPr/>
        </p:nvSpPr>
        <p:spPr>
          <a:xfrm>
            <a:off x="8302772" y="3540556"/>
            <a:ext cx="2849066" cy="102116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Linear programming plus pruning. Behind solvers like Concorde that crack very large instances.</a:t>
            </a:r>
            <a:endParaRPr lang="en-US" sz="1400" dirty="0"/>
          </a:p>
        </p:txBody>
      </p:sp>
      <p:sp>
        <p:nvSpPr>
          <p:cNvPr id="15" name="Shape 13"/>
          <p:cNvSpPr/>
          <p:nvPr/>
        </p:nvSpPr>
        <p:spPr>
          <a:xfrm>
            <a:off x="812731" y="5151410"/>
            <a:ext cx="10566453" cy="690651"/>
          </a:xfrm>
          <a:prstGeom prst="roundRect">
            <a:avLst>
              <a:gd name="adj" fmla="val 14711"/>
            </a:avLst>
          </a:prstGeom>
          <a:solidFill>
            <a:srgbClr val="14161F"/>
          </a:solidFill>
          <a:ln/>
        </p:spPr>
      </p:sp>
      <p:sp>
        <p:nvSpPr>
          <p:cNvPr id="16" name="Text 14"/>
          <p:cNvSpPr/>
          <p:nvPr/>
        </p:nvSpPr>
        <p:spPr>
          <a:xfrm>
            <a:off x="1117494" y="5354529"/>
            <a:ext cx="196206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99CFF"/>
                </a:solidFill>
                <a:latin typeface="Space Grotesk" pitchFamily="34" charset="0"/>
                <a:ea typeface="Space Grotesk" pitchFamily="34" charset="-122"/>
                <a:cs typeface="Space Grotesk" pitchFamily="34" charset="-120"/>
              </a:rPr>
              <a:t>At 20 cities</a:t>
            </a:r>
            <a:endParaRPr lang="en-US" sz="1600" dirty="0"/>
          </a:p>
        </p:txBody>
      </p:sp>
      <p:sp>
        <p:nvSpPr>
          <p:cNvPr id="17" name="Text 15"/>
          <p:cNvSpPr/>
          <p:nvPr/>
        </p:nvSpPr>
        <p:spPr>
          <a:xfrm>
            <a:off x="3276399" y="5372264"/>
            <a:ext cx="8031963"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5BC"/>
                </a:solidFill>
                <a:latin typeface="Inter" pitchFamily="34" charset="0"/>
                <a:ea typeface="Inter" pitchFamily="34" charset="-122"/>
                <a:cs typeface="Inter" pitchFamily="34" charset="-120"/>
              </a:rPr>
              <a:t>Held–Karp needs about 4 × 10⁸ steps; brute force faces about 6 × 10¹⁶ tours.</a:t>
            </a:r>
            <a:endParaRPr lang="en-US" sz="1400" dirty="0"/>
          </a:p>
        </p:txBody>
      </p:sp>
      <p:sp>
        <p:nvSpPr>
          <p:cNvPr id="18" name="Text 16"/>
          <p:cNvSpPr/>
          <p:nvPr/>
        </p:nvSpPr>
        <p:spPr>
          <a:xfrm>
            <a:off x="812731" y="623829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F"/>
        </a:solidFill>
      </p:bgPr>
    </p:bg>
    <p:spTree>
      <p:nvGrpSpPr>
        <p:cNvPr id="1" name=""/>
        <p:cNvGrpSpPr/>
        <p:nvPr/>
      </p:nvGrpSpPr>
      <p:grpSpPr>
        <a:xfrm>
          <a:off x="0" y="0"/>
          <a:ext cx="0" cy="0"/>
          <a:chOff x="0" y="0"/>
          <a:chExt cx="0" cy="0"/>
        </a:xfrm>
      </p:grpSpPr>
      <p:sp>
        <p:nvSpPr>
          <p:cNvPr id="2" name="Text 0"/>
          <p:cNvSpPr/>
          <p:nvPr/>
        </p:nvSpPr>
        <p:spPr>
          <a:xfrm>
            <a:off x="812731" y="1429733"/>
            <a:ext cx="10883447" cy="2743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99CFF"/>
                </a:solidFill>
                <a:latin typeface="Inter" pitchFamily="34" charset="0"/>
                <a:ea typeface="Inter" pitchFamily="34" charset="-122"/>
                <a:cs typeface="Inter" pitchFamily="34" charset="-120"/>
              </a:rPr>
              <a:t>THE HELD–KARP RECURRENCE</a:t>
            </a:r>
            <a:endParaRPr lang="en-US" sz="1400" dirty="0"/>
          </a:p>
        </p:txBody>
      </p:sp>
      <p:sp>
        <p:nvSpPr>
          <p:cNvPr id="3" name="Text 1"/>
          <p:cNvSpPr/>
          <p:nvPr/>
        </p:nvSpPr>
        <p:spPr>
          <a:xfrm>
            <a:off x="812731" y="1983439"/>
            <a:ext cx="10464757" cy="665359"/>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F2EA"/>
                </a:solidFill>
                <a:latin typeface="Inter" pitchFamily="34" charset="0"/>
                <a:ea typeface="Inter" pitchFamily="34" charset="-122"/>
                <a:cs typeface="Inter" pitchFamily="34" charset="-120"/>
              </a:rPr>
              <a:t>C(S, j)</a:t>
            </a:r>
            <a:r>
              <a:rPr lang="en-US" sz="1800" dirty="0">
                <a:solidFill>
                  <a:srgbClr val="C9C5BC"/>
                </a:solidFill>
                <a:latin typeface="Inter" pitchFamily="34" charset="0"/>
                <a:ea typeface="Inter" pitchFamily="34" charset="-122"/>
                <a:cs typeface="Inter" pitchFamily="34" charset="-120"/>
              </a:rPr>
              <a:t> = length of the shortest path that starts at city 1, visits every city in set S once, and ends at j.</a:t>
            </a:r>
            <a:endParaRPr lang="en-US" sz="1800" dirty="0"/>
          </a:p>
        </p:txBody>
      </p:sp>
      <p:sp>
        <p:nvSpPr>
          <p:cNvPr id="4" name="Shape 2"/>
          <p:cNvSpPr/>
          <p:nvPr/>
        </p:nvSpPr>
        <p:spPr>
          <a:xfrm>
            <a:off x="815906" y="2931334"/>
            <a:ext cx="10560103" cy="1452339"/>
          </a:xfrm>
          <a:prstGeom prst="roundRect">
            <a:avLst>
              <a:gd name="adj" fmla="val 6777"/>
            </a:avLst>
          </a:prstGeom>
          <a:solidFill>
            <a:srgbClr val="1F2230"/>
          </a:solidFill>
          <a:ln w="6350">
            <a:solidFill>
              <a:srgbClr val="33374A"/>
            </a:solidFill>
            <a:prstDash val="solid"/>
          </a:ln>
        </p:spPr>
      </p:sp>
      <p:sp>
        <p:nvSpPr>
          <p:cNvPr id="5" name="Text 3"/>
          <p:cNvSpPr/>
          <p:nvPr/>
        </p:nvSpPr>
        <p:spPr>
          <a:xfrm>
            <a:off x="1224617" y="3238488"/>
            <a:ext cx="10034961" cy="380942"/>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5F2EA"/>
                </a:solidFill>
                <a:latin typeface="JetBrains Mono" pitchFamily="49" charset="0"/>
                <a:ea typeface="JetBrains Mono" pitchFamily="49" charset="-122"/>
                <a:cs typeface="JetBrains Mono" pitchFamily="49" charset="-120"/>
              </a:rPr>
              <a:t>C(S, j) = min over i in S − {j} of</a:t>
            </a:r>
            <a:endParaRPr lang="en-US" sz="2000" dirty="0"/>
          </a:p>
        </p:txBody>
      </p:sp>
      <p:sp>
        <p:nvSpPr>
          <p:cNvPr id="6" name="Text 4"/>
          <p:cNvSpPr/>
          <p:nvPr/>
        </p:nvSpPr>
        <p:spPr>
          <a:xfrm>
            <a:off x="1834217" y="3720979"/>
            <a:ext cx="9407073" cy="380942"/>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FB4E0"/>
                </a:solidFill>
                <a:latin typeface="JetBrains Mono" pitchFamily="49" charset="0"/>
                <a:ea typeface="JetBrains Mono" pitchFamily="49" charset="-122"/>
                <a:cs typeface="JetBrains Mono" pitchFamily="49" charset="-120"/>
              </a:rPr>
              <a:t>C(S − {j}, i)</a:t>
            </a:r>
            <a:r>
              <a:rPr lang="en-US" sz="2000" dirty="0">
                <a:solidFill>
                  <a:srgbClr val="F5F2EA"/>
                </a:solidFill>
                <a:latin typeface="JetBrains Mono" pitchFamily="49" charset="0"/>
                <a:ea typeface="JetBrains Mono" pitchFamily="49" charset="-122"/>
                <a:cs typeface="JetBrains Mono" pitchFamily="49" charset="-120"/>
              </a:rPr>
              <a:t> + </a:t>
            </a:r>
            <a:r>
              <a:rPr lang="en-US" sz="2000" dirty="0">
                <a:solidFill>
                  <a:srgbClr val="F0A274"/>
                </a:solidFill>
                <a:latin typeface="JetBrains Mono" pitchFamily="49" charset="0"/>
                <a:ea typeface="JetBrains Mono" pitchFamily="49" charset="-122"/>
                <a:cs typeface="JetBrains Mono" pitchFamily="49" charset="-120"/>
              </a:rPr>
              <a:t>d(i, j)</a:t>
            </a:r>
            <a:endParaRPr lang="en-US" sz="2000" dirty="0"/>
          </a:p>
        </p:txBody>
      </p:sp>
      <p:sp>
        <p:nvSpPr>
          <p:cNvPr id="7" name="Text 5"/>
          <p:cNvSpPr/>
          <p:nvPr/>
        </p:nvSpPr>
        <p:spPr>
          <a:xfrm>
            <a:off x="812731" y="4691611"/>
            <a:ext cx="3348808" cy="55875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FB4E0"/>
                </a:solidFill>
                <a:latin typeface="Inter" pitchFamily="34" charset="0"/>
                <a:ea typeface="Inter" pitchFamily="34" charset="-122"/>
                <a:cs typeface="Inter" pitchFamily="34" charset="-120"/>
              </a:rPr>
              <a:t>best way to cover the rest, ending at i</a:t>
            </a:r>
            <a:endParaRPr lang="en-US" sz="1500" dirty="0"/>
          </a:p>
        </p:txBody>
      </p:sp>
      <p:sp>
        <p:nvSpPr>
          <p:cNvPr id="8" name="Text 6"/>
          <p:cNvSpPr/>
          <p:nvPr/>
        </p:nvSpPr>
        <p:spPr>
          <a:xfrm>
            <a:off x="4470322" y="4691611"/>
            <a:ext cx="3348808" cy="55875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0A274"/>
                </a:solidFill>
                <a:latin typeface="Inter" pitchFamily="34" charset="0"/>
                <a:ea typeface="Inter" pitchFamily="34" charset="-122"/>
                <a:cs typeface="Inter" pitchFamily="34" charset="-120"/>
              </a:rPr>
              <a:t>plus the last hop from i to j</a:t>
            </a:r>
            <a:endParaRPr lang="en-US" sz="1500" dirty="0"/>
          </a:p>
        </p:txBody>
      </p:sp>
      <p:sp>
        <p:nvSpPr>
          <p:cNvPr id="9" name="Text 7"/>
          <p:cNvSpPr/>
          <p:nvPr/>
        </p:nvSpPr>
        <p:spPr>
          <a:xfrm>
            <a:off x="8127914" y="4691611"/>
            <a:ext cx="3348808" cy="55875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5BC"/>
                </a:solidFill>
                <a:latin typeface="Inter" pitchFamily="34" charset="0"/>
                <a:ea typeface="Inter" pitchFamily="34" charset="-122"/>
                <a:cs typeface="Inter" pitchFamily="34" charset="-120"/>
              </a:rPr>
              <a:t>Answer: min over j of C(all, j) + d(j, 1)</a:t>
            </a:r>
            <a:endParaRPr lang="en-US" sz="1500" dirty="0"/>
          </a:p>
        </p:txBody>
      </p:sp>
      <p:sp>
        <p:nvSpPr>
          <p:cNvPr id="10" name="Text 8"/>
          <p:cNvSpPr/>
          <p:nvPr/>
        </p:nvSpPr>
        <p:spPr>
          <a:xfrm>
            <a:off x="812731" y="6238295"/>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D99"/>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Heuristics: good tours, fast</a:t>
            </a:r>
            <a:endParaRPr lang="en-US" sz="3600" dirty="0"/>
          </a:p>
        </p:txBody>
      </p:sp>
      <p:sp>
        <p:nvSpPr>
          <p:cNvPr id="3" name="Shape 1"/>
          <p:cNvSpPr/>
          <p:nvPr/>
        </p:nvSpPr>
        <p:spPr>
          <a:xfrm>
            <a:off x="815906" y="1623507"/>
            <a:ext cx="5175318" cy="2002913"/>
          </a:xfrm>
          <a:prstGeom prst="roundRect">
            <a:avLst>
              <a:gd name="adj" fmla="val 4914"/>
            </a:avLst>
          </a:prstGeom>
          <a:solidFill>
            <a:srgbClr val="FFFFFF"/>
          </a:solidFill>
          <a:ln w="6350">
            <a:solidFill>
              <a:srgbClr val="E2DDD1"/>
            </a:solidFill>
            <a:prstDash val="solid"/>
          </a:ln>
        </p:spPr>
      </p:sp>
      <p:pic>
        <p:nvPicPr>
          <p:cNvPr id="4" name="Image 0" descr="Search">    </p:cNvPr>
          <p:cNvPicPr>
            <a:picLocks noChangeAspect="1"/>
          </p:cNvPicPr>
          <p:nvPr/>
        </p:nvPicPr>
        <p:blipFill>
          <a:blip r:embed="rId1"/>
          <a:srcRect l="0" r="0" t="0" b="0"/>
          <a:stretch/>
        </p:blipFill>
        <p:spPr>
          <a:xfrm>
            <a:off x="1123058" y="2396368"/>
            <a:ext cx="457188" cy="457188"/>
          </a:xfrm>
          <a:prstGeom prst="rect">
            <a:avLst/>
          </a:prstGeom>
        </p:spPr>
      </p:pic>
      <p:sp>
        <p:nvSpPr>
          <p:cNvPr id="5" name="Text 2"/>
          <p:cNvSpPr/>
          <p:nvPr/>
        </p:nvSpPr>
        <p:spPr>
          <a:xfrm>
            <a:off x="1783364" y="2200818"/>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Nearest neighbour</a:t>
            </a:r>
            <a:endParaRPr lang="en-US" sz="1800" dirty="0"/>
          </a:p>
        </p:txBody>
      </p:sp>
      <p:sp>
        <p:nvSpPr>
          <p:cNvPr id="6" name="Text 3"/>
          <p:cNvSpPr/>
          <p:nvPr/>
        </p:nvSpPr>
        <p:spPr>
          <a:xfrm>
            <a:off x="1783364" y="255123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Always go to the closest unvisited city. O(n²), no quality guarantee.</a:t>
            </a:r>
            <a:endParaRPr lang="en-US" sz="1400" dirty="0"/>
          </a:p>
        </p:txBody>
      </p:sp>
      <p:sp>
        <p:nvSpPr>
          <p:cNvPr id="7" name="Shape 4"/>
          <p:cNvSpPr/>
          <p:nvPr/>
        </p:nvSpPr>
        <p:spPr>
          <a:xfrm>
            <a:off x="6200691" y="1623507"/>
            <a:ext cx="5175318" cy="2002913"/>
          </a:xfrm>
          <a:prstGeom prst="roundRect">
            <a:avLst>
              <a:gd name="adj" fmla="val 4914"/>
            </a:avLst>
          </a:prstGeom>
          <a:solidFill>
            <a:srgbClr val="FFFFFF"/>
          </a:solidFill>
          <a:ln w="6350">
            <a:solidFill>
              <a:srgbClr val="E2DDD1"/>
            </a:solidFill>
            <a:prstDash val="solid"/>
          </a:ln>
        </p:spPr>
      </p:sp>
      <p:pic>
        <p:nvPicPr>
          <p:cNvPr id="8" name="Image 1" descr="Wrench">    </p:cNvPr>
          <p:cNvPicPr>
            <a:picLocks noChangeAspect="1"/>
          </p:cNvPicPr>
          <p:nvPr/>
        </p:nvPicPr>
        <p:blipFill>
          <a:blip r:embed="rId2"/>
          <a:srcRect l="0" r="0" t="0" b="0"/>
          <a:stretch/>
        </p:blipFill>
        <p:spPr>
          <a:xfrm>
            <a:off x="6507844" y="2396368"/>
            <a:ext cx="457188" cy="457188"/>
          </a:xfrm>
          <a:prstGeom prst="rect">
            <a:avLst/>
          </a:prstGeom>
        </p:spPr>
      </p:pic>
      <p:sp>
        <p:nvSpPr>
          <p:cNvPr id="9" name="Text 5"/>
          <p:cNvSpPr/>
          <p:nvPr/>
        </p:nvSpPr>
        <p:spPr>
          <a:xfrm>
            <a:off x="7168149" y="2200818"/>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2-opt improvement</a:t>
            </a:r>
            <a:endParaRPr lang="en-US" sz="1800" dirty="0"/>
          </a:p>
        </p:txBody>
      </p:sp>
      <p:sp>
        <p:nvSpPr>
          <p:cNvPr id="10" name="Text 6"/>
          <p:cNvSpPr/>
          <p:nvPr/>
        </p:nvSpPr>
        <p:spPr>
          <a:xfrm>
            <a:off x="7168149" y="255123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Repeatedly swap two edges when it shortens the tour.</a:t>
            </a:r>
            <a:endParaRPr lang="en-US" sz="1400" dirty="0"/>
          </a:p>
        </p:txBody>
      </p:sp>
      <p:sp>
        <p:nvSpPr>
          <p:cNvPr id="11" name="Shape 7"/>
          <p:cNvSpPr/>
          <p:nvPr/>
        </p:nvSpPr>
        <p:spPr>
          <a:xfrm>
            <a:off x="815906" y="3835887"/>
            <a:ext cx="5175318" cy="2003000"/>
          </a:xfrm>
          <a:prstGeom prst="roundRect">
            <a:avLst>
              <a:gd name="adj" fmla="val 4914"/>
            </a:avLst>
          </a:prstGeom>
          <a:solidFill>
            <a:srgbClr val="FFFFFF"/>
          </a:solidFill>
          <a:ln w="6350">
            <a:solidFill>
              <a:srgbClr val="E2DDD1"/>
            </a:solidFill>
            <a:prstDash val="solid"/>
          </a:ln>
        </p:spPr>
      </p:sp>
      <p:pic>
        <p:nvPicPr>
          <p:cNvPr id="12" name="Image 2" descr="Verified">    </p:cNvPr>
          <p:cNvPicPr>
            <a:picLocks noChangeAspect="1"/>
          </p:cNvPicPr>
          <p:nvPr/>
        </p:nvPicPr>
        <p:blipFill>
          <a:blip r:embed="rId3"/>
          <a:srcRect l="0" r="0" t="0" b="0"/>
          <a:stretch/>
        </p:blipFill>
        <p:spPr>
          <a:xfrm>
            <a:off x="1123058" y="4608751"/>
            <a:ext cx="457188" cy="457188"/>
          </a:xfrm>
          <a:prstGeom prst="rect">
            <a:avLst/>
          </a:prstGeom>
        </p:spPr>
      </p:pic>
      <p:sp>
        <p:nvSpPr>
          <p:cNvPr id="13" name="Text 8"/>
          <p:cNvSpPr/>
          <p:nvPr/>
        </p:nvSpPr>
        <p:spPr>
          <a:xfrm>
            <a:off x="1783364" y="4413197"/>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Christofides</a:t>
            </a:r>
            <a:endParaRPr lang="en-US" sz="1800" dirty="0"/>
          </a:p>
        </p:txBody>
      </p:sp>
      <p:sp>
        <p:nvSpPr>
          <p:cNvPr id="14" name="Text 9"/>
          <p:cNvSpPr/>
          <p:nvPr/>
        </p:nvSpPr>
        <p:spPr>
          <a:xfrm>
            <a:off x="1783364" y="476361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Guaranteed within 1.5× optimal when distances obey the triangle inequality.</a:t>
            </a:r>
            <a:endParaRPr lang="en-US" sz="1400" dirty="0"/>
          </a:p>
        </p:txBody>
      </p:sp>
      <p:sp>
        <p:nvSpPr>
          <p:cNvPr id="15" name="Shape 10"/>
          <p:cNvSpPr/>
          <p:nvPr/>
        </p:nvSpPr>
        <p:spPr>
          <a:xfrm>
            <a:off x="6200691" y="3835887"/>
            <a:ext cx="5175318" cy="2003000"/>
          </a:xfrm>
          <a:prstGeom prst="roundRect">
            <a:avLst>
              <a:gd name="adj" fmla="val 4914"/>
            </a:avLst>
          </a:prstGeom>
          <a:solidFill>
            <a:srgbClr val="FFFFFF"/>
          </a:solidFill>
          <a:ln w="6350">
            <a:solidFill>
              <a:srgbClr val="E2DDD1"/>
            </a:solidFill>
            <a:prstDash val="solid"/>
          </a:ln>
        </p:spPr>
      </p:sp>
      <p:pic>
        <p:nvPicPr>
          <p:cNvPr id="16" name="Image 3" descr="Lightning">    </p:cNvPr>
          <p:cNvPicPr>
            <a:picLocks noChangeAspect="1"/>
          </p:cNvPicPr>
          <p:nvPr/>
        </p:nvPicPr>
        <p:blipFill>
          <a:blip r:embed="rId4"/>
          <a:srcRect l="0" r="0" t="0" b="0"/>
          <a:stretch/>
        </p:blipFill>
        <p:spPr>
          <a:xfrm>
            <a:off x="6507844" y="4608751"/>
            <a:ext cx="457188" cy="457188"/>
          </a:xfrm>
          <a:prstGeom prst="rect">
            <a:avLst/>
          </a:prstGeom>
        </p:spPr>
      </p:pic>
      <p:sp>
        <p:nvSpPr>
          <p:cNvPr id="17" name="Text 11"/>
          <p:cNvSpPr/>
          <p:nvPr/>
        </p:nvSpPr>
        <p:spPr>
          <a:xfrm>
            <a:off x="7168149" y="4413197"/>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Metaheuristics</a:t>
            </a:r>
            <a:endParaRPr lang="en-US" sz="1800" dirty="0"/>
          </a:p>
        </p:txBody>
      </p:sp>
      <p:sp>
        <p:nvSpPr>
          <p:cNvPr id="18" name="Text 12"/>
          <p:cNvSpPr/>
          <p:nvPr/>
        </p:nvSpPr>
        <p:spPr>
          <a:xfrm>
            <a:off x="7168149" y="476361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Simulated annealing, genetic algorithms, ant colony optimization.</a:t>
            </a:r>
            <a:endParaRPr lang="en-US" sz="1400" dirty="0"/>
          </a:p>
        </p:txBody>
      </p:sp>
      <p:sp>
        <p:nvSpPr>
          <p:cNvPr id="19" name="Text 13"/>
          <p:cNvSpPr/>
          <p:nvPr/>
        </p:nvSpPr>
        <p:spPr>
          <a:xfrm>
            <a:off x="812731" y="623829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Nearest neighbour, step by step</a:t>
            </a:r>
            <a:endParaRPr lang="en-US" sz="3600" dirty="0"/>
          </a:p>
        </p:txBody>
      </p:sp>
      <p:sp>
        <p:nvSpPr>
          <p:cNvPr id="3" name="Shape 1"/>
          <p:cNvSpPr/>
          <p:nvPr/>
        </p:nvSpPr>
        <p:spPr>
          <a:xfrm>
            <a:off x="815906" y="1623507"/>
            <a:ext cx="6953378" cy="664998"/>
          </a:xfrm>
          <a:prstGeom prst="roundRect">
            <a:avLst>
              <a:gd name="adj" fmla="val 10981"/>
            </a:avLst>
          </a:prstGeom>
          <a:solidFill>
            <a:srgbClr val="FFFFFF"/>
          </a:solidFill>
          <a:ln w="6350">
            <a:solidFill>
              <a:srgbClr val="E2DDD1"/>
            </a:solidFill>
            <a:prstDash val="solid"/>
          </a:ln>
        </p:spPr>
      </p:sp>
      <p:sp>
        <p:nvSpPr>
          <p:cNvPr id="4" name="Text 2"/>
          <p:cNvSpPr/>
          <p:nvPr/>
        </p:nvSpPr>
        <p:spPr>
          <a:xfrm>
            <a:off x="1021413" y="1778236"/>
            <a:ext cx="1130296" cy="380942"/>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5A4BD1"/>
                </a:solidFill>
                <a:latin typeface="Space Grotesk" pitchFamily="34" charset="0"/>
                <a:ea typeface="Space Grotesk" pitchFamily="34" charset="-122"/>
                <a:cs typeface="Space Grotesk" pitchFamily="34" charset="-120"/>
              </a:rPr>
              <a:t>A → B</a:t>
            </a:r>
            <a:endParaRPr lang="en-US" sz="2000" dirty="0"/>
          </a:p>
        </p:txBody>
      </p:sp>
      <p:sp>
        <p:nvSpPr>
          <p:cNvPr id="5" name="Text 3"/>
          <p:cNvSpPr/>
          <p:nvPr/>
        </p:nvSpPr>
        <p:spPr>
          <a:xfrm>
            <a:off x="2304026" y="1831535"/>
            <a:ext cx="4831645"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Closest of B 10, C 15, D 20</a:t>
            </a:r>
            <a:endParaRPr lang="en-US" sz="1400" dirty="0"/>
          </a:p>
        </p:txBody>
      </p:sp>
      <p:sp>
        <p:nvSpPr>
          <p:cNvPr id="6" name="Text 4"/>
          <p:cNvSpPr/>
          <p:nvPr/>
        </p:nvSpPr>
        <p:spPr>
          <a:xfrm>
            <a:off x="7198061" y="1813796"/>
            <a:ext cx="43885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+10</a:t>
            </a:r>
            <a:endParaRPr lang="en-US" sz="1600" dirty="0"/>
          </a:p>
        </p:txBody>
      </p:sp>
      <p:sp>
        <p:nvSpPr>
          <p:cNvPr id="7" name="Shape 5"/>
          <p:cNvSpPr/>
          <p:nvPr/>
        </p:nvSpPr>
        <p:spPr>
          <a:xfrm>
            <a:off x="815906" y="2806995"/>
            <a:ext cx="6953378" cy="664998"/>
          </a:xfrm>
          <a:prstGeom prst="roundRect">
            <a:avLst>
              <a:gd name="adj" fmla="val 10981"/>
            </a:avLst>
          </a:prstGeom>
          <a:solidFill>
            <a:srgbClr val="FFFFFF"/>
          </a:solidFill>
          <a:ln w="6350">
            <a:solidFill>
              <a:srgbClr val="E2DDD1"/>
            </a:solidFill>
            <a:prstDash val="solid"/>
          </a:ln>
        </p:spPr>
      </p:sp>
      <p:sp>
        <p:nvSpPr>
          <p:cNvPr id="8" name="Text 6"/>
          <p:cNvSpPr/>
          <p:nvPr/>
        </p:nvSpPr>
        <p:spPr>
          <a:xfrm>
            <a:off x="1021413" y="2961723"/>
            <a:ext cx="1130296" cy="380942"/>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5A4BD1"/>
                </a:solidFill>
                <a:latin typeface="Space Grotesk" pitchFamily="34" charset="0"/>
                <a:ea typeface="Space Grotesk" pitchFamily="34" charset="-122"/>
                <a:cs typeface="Space Grotesk" pitchFamily="34" charset="-120"/>
              </a:rPr>
              <a:t>B → D</a:t>
            </a:r>
            <a:endParaRPr lang="en-US" sz="2000" dirty="0"/>
          </a:p>
        </p:txBody>
      </p:sp>
      <p:sp>
        <p:nvSpPr>
          <p:cNvPr id="9" name="Text 7"/>
          <p:cNvSpPr/>
          <p:nvPr/>
        </p:nvSpPr>
        <p:spPr>
          <a:xfrm>
            <a:off x="2304026" y="3015025"/>
            <a:ext cx="4831645"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Closest of C 35, D 25</a:t>
            </a:r>
            <a:endParaRPr lang="en-US" sz="1400" dirty="0"/>
          </a:p>
        </p:txBody>
      </p:sp>
      <p:sp>
        <p:nvSpPr>
          <p:cNvPr id="10" name="Text 8"/>
          <p:cNvSpPr/>
          <p:nvPr/>
        </p:nvSpPr>
        <p:spPr>
          <a:xfrm>
            <a:off x="7198061" y="2997287"/>
            <a:ext cx="43885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+25</a:t>
            </a:r>
            <a:endParaRPr lang="en-US" sz="1600" dirty="0"/>
          </a:p>
        </p:txBody>
      </p:sp>
      <p:sp>
        <p:nvSpPr>
          <p:cNvPr id="11" name="Shape 9"/>
          <p:cNvSpPr/>
          <p:nvPr/>
        </p:nvSpPr>
        <p:spPr>
          <a:xfrm>
            <a:off x="815906" y="3990398"/>
            <a:ext cx="6953378" cy="664998"/>
          </a:xfrm>
          <a:prstGeom prst="roundRect">
            <a:avLst>
              <a:gd name="adj" fmla="val 10981"/>
            </a:avLst>
          </a:prstGeom>
          <a:solidFill>
            <a:srgbClr val="FFFFFF"/>
          </a:solidFill>
          <a:ln w="6350">
            <a:solidFill>
              <a:srgbClr val="E2DDD1"/>
            </a:solidFill>
            <a:prstDash val="solid"/>
          </a:ln>
        </p:spPr>
      </p:sp>
      <p:sp>
        <p:nvSpPr>
          <p:cNvPr id="12" name="Text 10"/>
          <p:cNvSpPr/>
          <p:nvPr/>
        </p:nvSpPr>
        <p:spPr>
          <a:xfrm>
            <a:off x="1021413" y="4145124"/>
            <a:ext cx="1130296" cy="380942"/>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5A4BD1"/>
                </a:solidFill>
                <a:latin typeface="Space Grotesk" pitchFamily="34" charset="0"/>
                <a:ea typeface="Space Grotesk" pitchFamily="34" charset="-122"/>
                <a:cs typeface="Space Grotesk" pitchFamily="34" charset="-120"/>
              </a:rPr>
              <a:t>D → C</a:t>
            </a:r>
            <a:endParaRPr lang="en-US" sz="2000" dirty="0"/>
          </a:p>
        </p:txBody>
      </p:sp>
      <p:sp>
        <p:nvSpPr>
          <p:cNvPr id="13" name="Text 11"/>
          <p:cNvSpPr/>
          <p:nvPr/>
        </p:nvSpPr>
        <p:spPr>
          <a:xfrm>
            <a:off x="2304026" y="4198429"/>
            <a:ext cx="4831645"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Only C is left</a:t>
            </a:r>
            <a:endParaRPr lang="en-US" sz="1400" dirty="0"/>
          </a:p>
        </p:txBody>
      </p:sp>
      <p:sp>
        <p:nvSpPr>
          <p:cNvPr id="14" name="Text 12"/>
          <p:cNvSpPr/>
          <p:nvPr/>
        </p:nvSpPr>
        <p:spPr>
          <a:xfrm>
            <a:off x="7198061" y="4180687"/>
            <a:ext cx="43885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+30</a:t>
            </a:r>
            <a:endParaRPr lang="en-US" sz="1600" dirty="0"/>
          </a:p>
        </p:txBody>
      </p:sp>
      <p:sp>
        <p:nvSpPr>
          <p:cNvPr id="15" name="Shape 13"/>
          <p:cNvSpPr/>
          <p:nvPr/>
        </p:nvSpPr>
        <p:spPr>
          <a:xfrm>
            <a:off x="815906" y="5173886"/>
            <a:ext cx="6953378" cy="664998"/>
          </a:xfrm>
          <a:prstGeom prst="roundRect">
            <a:avLst>
              <a:gd name="adj" fmla="val 10981"/>
            </a:avLst>
          </a:prstGeom>
          <a:solidFill>
            <a:srgbClr val="FFFFFF"/>
          </a:solidFill>
          <a:ln w="6350">
            <a:solidFill>
              <a:srgbClr val="E2DDD1"/>
            </a:solidFill>
            <a:prstDash val="solid"/>
          </a:ln>
        </p:spPr>
      </p:sp>
      <p:sp>
        <p:nvSpPr>
          <p:cNvPr id="16" name="Text 14"/>
          <p:cNvSpPr/>
          <p:nvPr/>
        </p:nvSpPr>
        <p:spPr>
          <a:xfrm>
            <a:off x="1021413" y="5328617"/>
            <a:ext cx="1130296" cy="380942"/>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5A4BD1"/>
                </a:solidFill>
                <a:latin typeface="Space Grotesk" pitchFamily="34" charset="0"/>
                <a:ea typeface="Space Grotesk" pitchFamily="34" charset="-122"/>
                <a:cs typeface="Space Grotesk" pitchFamily="34" charset="-120"/>
              </a:rPr>
              <a:t>C → A</a:t>
            </a:r>
            <a:endParaRPr lang="en-US" sz="2000" dirty="0"/>
          </a:p>
        </p:txBody>
      </p:sp>
      <p:sp>
        <p:nvSpPr>
          <p:cNvPr id="17" name="Text 15"/>
          <p:cNvSpPr/>
          <p:nvPr/>
        </p:nvSpPr>
        <p:spPr>
          <a:xfrm>
            <a:off x="2304026" y="5381916"/>
            <a:ext cx="4831645"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Return home</a:t>
            </a:r>
            <a:endParaRPr lang="en-US" sz="1400" dirty="0"/>
          </a:p>
        </p:txBody>
      </p:sp>
      <p:sp>
        <p:nvSpPr>
          <p:cNvPr id="18" name="Text 16"/>
          <p:cNvSpPr/>
          <p:nvPr/>
        </p:nvSpPr>
        <p:spPr>
          <a:xfrm>
            <a:off x="7198061" y="5364181"/>
            <a:ext cx="43885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1E26"/>
                </a:solidFill>
                <a:latin typeface="JetBrains Mono" pitchFamily="49" charset="0"/>
                <a:ea typeface="JetBrains Mono" pitchFamily="49" charset="-122"/>
                <a:cs typeface="JetBrains Mono" pitchFamily="49" charset="-120"/>
              </a:rPr>
              <a:t>+15</a:t>
            </a:r>
            <a:endParaRPr lang="en-US" sz="1600" dirty="0"/>
          </a:p>
        </p:txBody>
      </p:sp>
      <p:sp>
        <p:nvSpPr>
          <p:cNvPr id="19" name="Shape 17"/>
          <p:cNvSpPr/>
          <p:nvPr/>
        </p:nvSpPr>
        <p:spPr>
          <a:xfrm>
            <a:off x="8077222" y="1620332"/>
            <a:ext cx="3301962" cy="4221730"/>
          </a:xfrm>
          <a:prstGeom prst="roundRect">
            <a:avLst>
              <a:gd name="adj" fmla="val 3077"/>
            </a:avLst>
          </a:prstGeom>
          <a:solidFill>
            <a:srgbClr val="14161F"/>
          </a:solidFill>
          <a:ln/>
        </p:spPr>
      </p:sp>
      <p:sp>
        <p:nvSpPr>
          <p:cNvPr id="20" name="Text 18"/>
          <p:cNvSpPr/>
          <p:nvPr/>
        </p:nvSpPr>
        <p:spPr>
          <a:xfrm>
            <a:off x="8381985" y="2691132"/>
            <a:ext cx="2773209" cy="238778"/>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9CFF"/>
                </a:solidFill>
                <a:latin typeface="Inter" pitchFamily="34" charset="0"/>
                <a:ea typeface="Inter" pitchFamily="34" charset="-122"/>
                <a:cs typeface="Inter" pitchFamily="34" charset="-120"/>
              </a:rPr>
              <a:t>TOUR LENGTH</a:t>
            </a:r>
            <a:endParaRPr lang="en-US" sz="1200" dirty="0"/>
          </a:p>
        </p:txBody>
      </p:sp>
      <p:sp>
        <p:nvSpPr>
          <p:cNvPr id="21" name="Text 19"/>
          <p:cNvSpPr/>
          <p:nvPr/>
        </p:nvSpPr>
        <p:spPr>
          <a:xfrm>
            <a:off x="8381985" y="3056849"/>
            <a:ext cx="2773209" cy="787438"/>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5F2EA"/>
                </a:solidFill>
                <a:latin typeface="Space Grotesk" pitchFamily="34" charset="0"/>
                <a:ea typeface="Space Grotesk" pitchFamily="34" charset="-122"/>
                <a:cs typeface="Space Grotesk" pitchFamily="34" charset="-120"/>
              </a:rPr>
              <a:t>80</a:t>
            </a:r>
            <a:endParaRPr lang="en-US" sz="6000" dirty="0"/>
          </a:p>
        </p:txBody>
      </p:sp>
      <p:sp>
        <p:nvSpPr>
          <p:cNvPr id="22" name="Text 20"/>
          <p:cNvSpPr/>
          <p:nvPr/>
        </p:nvSpPr>
        <p:spPr>
          <a:xfrm>
            <a:off x="8381985" y="3971224"/>
            <a:ext cx="2773209" cy="825436"/>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C5BC"/>
                </a:solidFill>
                <a:latin typeface="Inter" pitchFamily="34" charset="0"/>
                <a:ea typeface="Inter" pitchFamily="34" charset="-122"/>
                <a:cs typeface="Inter" pitchFamily="34" charset="-120"/>
              </a:rPr>
              <a:t>Optimal here, by luck. On larger maps, early greedy choices can force long jumps at the end.</a:t>
            </a:r>
            <a:endParaRPr lang="en-US" sz="1400" dirty="0"/>
          </a:p>
        </p:txBody>
      </p:sp>
      <p:sp>
        <p:nvSpPr>
          <p:cNvPr id="23" name="Text 21"/>
          <p:cNvSpPr/>
          <p:nvPr/>
        </p:nvSpPr>
        <p:spPr>
          <a:xfrm>
            <a:off x="812731" y="623829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2-opt: remove the crossings</a:t>
            </a:r>
            <a:endParaRPr lang="en-US" sz="3600" dirty="0"/>
          </a:p>
        </p:txBody>
      </p:sp>
      <p:sp>
        <p:nvSpPr>
          <p:cNvPr id="3" name="Shape 1"/>
          <p:cNvSpPr/>
          <p:nvPr/>
        </p:nvSpPr>
        <p:spPr>
          <a:xfrm>
            <a:off x="815906" y="1623510"/>
            <a:ext cx="4768997" cy="3006501"/>
          </a:xfrm>
          <a:prstGeom prst="roundRect">
            <a:avLst>
              <a:gd name="adj" fmla="val 3274"/>
            </a:avLst>
          </a:prstGeom>
          <a:solidFill>
            <a:srgbClr val="FFFFFF"/>
          </a:solidFill>
          <a:ln w="6350">
            <a:solidFill>
              <a:srgbClr val="E2DDD1"/>
            </a:solidFill>
            <a:prstDash val="solid"/>
          </a:ln>
        </p:spPr>
      </p:sp>
      <p:sp>
        <p:nvSpPr>
          <p:cNvPr id="4" name="Text 2"/>
          <p:cNvSpPr/>
          <p:nvPr/>
        </p:nvSpPr>
        <p:spPr>
          <a:xfrm>
            <a:off x="1932555" y="1896139"/>
            <a:ext cx="2535698" cy="238778"/>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C4551F"/>
                </a:solidFill>
                <a:latin typeface="Inter" pitchFamily="34" charset="0"/>
                <a:ea typeface="Inter" pitchFamily="34" charset="-122"/>
                <a:cs typeface="Inter" pitchFamily="34" charset="-120"/>
              </a:rPr>
              <a:t>BEFORE: EDGES CROSS</a:t>
            </a:r>
            <a:endParaRPr lang="en-US" sz="1200" dirty="0"/>
          </a:p>
        </p:txBody>
      </p:sp>
      <p:pic>
        <p:nvPicPr>
          <p:cNvPr id="5" name="Image 0" descr="A tour of four points whose two diagonal edges cross">    </p:cNvPr>
          <p:cNvPicPr>
            <a:picLocks noChangeAspect="1"/>
          </p:cNvPicPr>
          <p:nvPr/>
        </p:nvPicPr>
        <p:blipFill>
          <a:blip r:embed="rId1"/>
          <a:srcRect l="-2" r="-2" t="0" b="0"/>
          <a:stretch/>
        </p:blipFill>
        <p:spPr>
          <a:xfrm>
            <a:off x="1803363" y="2261859"/>
            <a:ext cx="2793995" cy="2095431"/>
          </a:xfrm>
          <a:prstGeom prst="rect">
            <a:avLst/>
          </a:prstGeom>
        </p:spPr>
      </p:pic>
      <p:pic>
        <p:nvPicPr>
          <p:cNvPr id="6" name="Image 1" descr="arrow-right">    </p:cNvPr>
          <p:cNvPicPr>
            <a:picLocks noChangeAspect="1"/>
          </p:cNvPicPr>
          <p:nvPr/>
        </p:nvPicPr>
        <p:blipFill>
          <a:blip r:embed="rId2"/>
          <a:srcRect l="0" r="0" t="0" b="0"/>
          <a:stretch/>
        </p:blipFill>
        <p:spPr>
          <a:xfrm>
            <a:off x="5791194" y="2974336"/>
            <a:ext cx="609526" cy="304763"/>
          </a:xfrm>
          <a:prstGeom prst="rect">
            <a:avLst/>
          </a:prstGeom>
        </p:spPr>
      </p:pic>
      <p:sp>
        <p:nvSpPr>
          <p:cNvPr id="7" name="Shape 3"/>
          <p:cNvSpPr/>
          <p:nvPr/>
        </p:nvSpPr>
        <p:spPr>
          <a:xfrm>
            <a:off x="6607013" y="1623510"/>
            <a:ext cx="4768997" cy="3006501"/>
          </a:xfrm>
          <a:prstGeom prst="roundRect">
            <a:avLst>
              <a:gd name="adj" fmla="val 3274"/>
            </a:avLst>
          </a:prstGeom>
          <a:solidFill>
            <a:srgbClr val="FFFFFF"/>
          </a:solidFill>
          <a:ln w="6350">
            <a:solidFill>
              <a:srgbClr val="E2DDD1"/>
            </a:solidFill>
            <a:prstDash val="solid"/>
          </a:ln>
        </p:spPr>
      </p:sp>
      <p:sp>
        <p:nvSpPr>
          <p:cNvPr id="8" name="Text 4"/>
          <p:cNvSpPr/>
          <p:nvPr/>
        </p:nvSpPr>
        <p:spPr>
          <a:xfrm>
            <a:off x="8050780" y="1896139"/>
            <a:ext cx="1881375" cy="238778"/>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5A4BD1"/>
                </a:solidFill>
                <a:latin typeface="Inter" pitchFamily="34" charset="0"/>
                <a:ea typeface="Inter" pitchFamily="34" charset="-122"/>
                <a:cs typeface="Inter" pitchFamily="34" charset="-120"/>
              </a:rPr>
              <a:t>AFTER: SHORTER</a:t>
            </a:r>
            <a:endParaRPr lang="en-US" sz="1200" dirty="0"/>
          </a:p>
        </p:txBody>
      </p:sp>
      <p:pic>
        <p:nvPicPr>
          <p:cNvPr id="9" name="Image 2" descr="The same four points after the swap, joined around the outside with no crossing">    </p:cNvPr>
          <p:cNvPicPr>
            <a:picLocks noChangeAspect="1"/>
          </p:cNvPicPr>
          <p:nvPr/>
        </p:nvPicPr>
        <p:blipFill>
          <a:blip r:embed="rId3"/>
          <a:srcRect l="-2" r="-2" t="0" b="0"/>
          <a:stretch/>
        </p:blipFill>
        <p:spPr>
          <a:xfrm>
            <a:off x="7594471" y="2261859"/>
            <a:ext cx="2793995" cy="2095431"/>
          </a:xfrm>
          <a:prstGeom prst="rect">
            <a:avLst/>
          </a:prstGeom>
        </p:spPr>
      </p:pic>
      <p:sp>
        <p:nvSpPr>
          <p:cNvPr id="10" name="Shape 5"/>
          <p:cNvSpPr/>
          <p:nvPr/>
        </p:nvSpPr>
        <p:spPr>
          <a:xfrm>
            <a:off x="812731" y="4937944"/>
            <a:ext cx="10566453" cy="904116"/>
          </a:xfrm>
          <a:prstGeom prst="roundRect">
            <a:avLst>
              <a:gd name="adj" fmla="val 11237"/>
            </a:avLst>
          </a:prstGeom>
          <a:solidFill>
            <a:srgbClr val="14161F"/>
          </a:solidFill>
          <a:ln/>
        </p:spPr>
      </p:sp>
      <p:sp>
        <p:nvSpPr>
          <p:cNvPr id="11" name="Text 6"/>
          <p:cNvSpPr/>
          <p:nvPr/>
        </p:nvSpPr>
        <p:spPr>
          <a:xfrm>
            <a:off x="1117494" y="5247754"/>
            <a:ext cx="1962069" cy="30981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A99CFF"/>
                </a:solidFill>
                <a:latin typeface="Space Grotesk" pitchFamily="34" charset="0"/>
                <a:ea typeface="Space Grotesk" pitchFamily="34" charset="-122"/>
                <a:cs typeface="Space Grotesk" pitchFamily="34" charset="-120"/>
              </a:rPr>
              <a:t>The move</a:t>
            </a:r>
            <a:endParaRPr lang="en-US" sz="1600" dirty="0"/>
          </a:p>
        </p:txBody>
      </p:sp>
      <p:sp>
        <p:nvSpPr>
          <p:cNvPr id="12" name="Text 7"/>
          <p:cNvSpPr/>
          <p:nvPr/>
        </p:nvSpPr>
        <p:spPr>
          <a:xfrm>
            <a:off x="3276399" y="5141063"/>
            <a:ext cx="8031963"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5BC"/>
                </a:solidFill>
                <a:latin typeface="Inter" pitchFamily="34" charset="0"/>
                <a:ea typeface="Inter" pitchFamily="34" charset="-122"/>
                <a:cs typeface="Inter" pitchFamily="34" charset="-120"/>
              </a:rPr>
              <a:t>Delete two edges, reconnect the ends the other way (reversing the segment between them), keep it if shorter. Repeat until no swap helps.</a:t>
            </a:r>
            <a:endParaRPr lang="en-US" sz="1400" dirty="0"/>
          </a:p>
        </p:txBody>
      </p:sp>
      <p:sp>
        <p:nvSpPr>
          <p:cNvPr id="13" name="Text 8"/>
          <p:cNvSpPr/>
          <p:nvPr/>
        </p:nvSpPr>
        <p:spPr>
          <a:xfrm>
            <a:off x="812731" y="623829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26"/>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Choosing an approach</a:t>
            </a:r>
            <a:endParaRPr lang="en-US" sz="3600" dirty="0"/>
          </a:p>
        </p:txBody>
      </p:sp>
      <p:sp>
        <p:nvSpPr>
          <p:cNvPr id="3" name="Shape 1"/>
          <p:cNvSpPr/>
          <p:nvPr/>
        </p:nvSpPr>
        <p:spPr>
          <a:xfrm>
            <a:off x="812731" y="1645369"/>
            <a:ext cx="10566367" cy="3618029"/>
          </a:xfrm>
          <a:prstGeom prst="rect">
            <a:avLst/>
          </a:prstGeom>
          <a:solidFill>
            <a:srgbClr val="FFFFFF"/>
          </a:solidFill>
          <a:ln/>
        </p:spPr>
      </p:sp>
      <p:sp>
        <p:nvSpPr>
          <p:cNvPr id="4" name="Shape 2"/>
          <p:cNvSpPr/>
          <p:nvPr/>
        </p:nvSpPr>
        <p:spPr>
          <a:xfrm>
            <a:off x="11375922" y="1645369"/>
            <a:ext cx="0" cy="3618029"/>
          </a:xfrm>
          <a:prstGeom prst="line">
            <a:avLst/>
          </a:prstGeom>
          <a:noFill/>
          <a:ln w="6350">
            <a:solidFill>
              <a:srgbClr val="E2DDD1"/>
            </a:solidFill>
            <a:prstDash val="solid"/>
          </a:ln>
        </p:spPr>
      </p:sp>
      <p:sp>
        <p:nvSpPr>
          <p:cNvPr id="5" name="Shape 3"/>
          <p:cNvSpPr/>
          <p:nvPr/>
        </p:nvSpPr>
        <p:spPr>
          <a:xfrm>
            <a:off x="812731" y="5260223"/>
            <a:ext cx="10566367" cy="0"/>
          </a:xfrm>
          <a:prstGeom prst="line">
            <a:avLst/>
          </a:prstGeom>
          <a:noFill/>
          <a:ln w="6350">
            <a:solidFill>
              <a:srgbClr val="E2DDD1"/>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860" y="1656499"/>
          <a:ext cx="10549672" cy="3601335"/>
        </p:xfrm>
        <a:graphic>
          <a:graphicData uri="http://schemas.openxmlformats.org/drawingml/2006/table">
            <a:tbl>
              <a:tblPr/>
              <a:tblGrid>
                <a:gridCol w="3586889"/>
                <a:gridCol w="3797882"/>
                <a:gridCol w="3164902"/>
              </a:tblGrid>
              <a:tr h="600222">
                <a:tc>
                  <a:txBody>
                    <a:bodyPr/>
                    <a:lstStyle/>
                    <a:p>
                      <a:pPr indent="0" marL="0">
                        <a:lnSpc>
                          <a:spcPts val="2240"/>
                        </a:lnSpc>
                        <a:buNone/>
                      </a:pPr>
                      <a:r>
                        <a:rPr lang="en-US" sz="1600" b="1" dirty="0">
                          <a:solidFill>
                            <a:srgbClr val="F5F2EA"/>
                          </a:solidFill>
                          <a:latin typeface="Inter" pitchFamily="34" charset="0"/>
                          <a:ea typeface="Inter" pitchFamily="34" charset="-122"/>
                          <a:cs typeface="Inter" pitchFamily="34" charset="-120"/>
                        </a:rPr>
                        <a:t>Method</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240"/>
                        </a:lnSpc>
                        <a:buNone/>
                      </a:pPr>
                      <a:r>
                        <a:rPr lang="en-US" sz="1600" b="1" dirty="0">
                          <a:solidFill>
                            <a:srgbClr val="F5F2EA"/>
                          </a:solidFill>
                          <a:latin typeface="Inter" pitchFamily="34" charset="0"/>
                          <a:ea typeface="Inter" pitchFamily="34" charset="-122"/>
                          <a:cs typeface="Inter" pitchFamily="34" charset="-120"/>
                        </a:rPr>
                        <a:t>Tour quality</a:t>
                      </a:r>
                      <a:endParaRPr lang="en-US" sz="1600" dirty="0">
                        <a:latin typeface="Inter" charset="0"/>
                        <a:ea typeface="Inter" charset="0"/>
                        <a:cs typeface="Inter" charset="0"/>
                      </a:endParaRPr>
                    </a:p>
                  </a:txBody>
                  <a:tcPr marL="203200" marR="203200" marT="152400" marB="1524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2240"/>
                        </a:lnSpc>
                        <a:buNone/>
                      </a:pPr>
                      <a:r>
                        <a:rPr lang="en-US" sz="1600" b="1" dirty="0">
                          <a:solidFill>
                            <a:srgbClr val="F5F2EA"/>
                          </a:solidFill>
                          <a:latin typeface="Inter" pitchFamily="34" charset="0"/>
                          <a:ea typeface="Inter" pitchFamily="34" charset="-122"/>
                          <a:cs typeface="Inter" pitchFamily="34" charset="-120"/>
                        </a:rPr>
                        <a:t>Time</a:t>
                      </a:r>
                      <a:endParaRPr lang="en-US" sz="1600" dirty="0">
                        <a:latin typeface="Inter" charset="0"/>
                        <a:ea typeface="Inter" charset="0"/>
                        <a:cs typeface="Inter" charset="0"/>
                      </a:endParaRPr>
                    </a:p>
                  </a:txBody>
                  <a:tcPr marL="203200" marR="203200" marT="152400" marB="1524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600222">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Brute force</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5A4BD1"/>
                          </a:solidFill>
                          <a:latin typeface="Inter" pitchFamily="34" charset="0"/>
                          <a:ea typeface="Inter" pitchFamily="34" charset="-122"/>
                          <a:cs typeface="Inter" pitchFamily="34" charset="-120"/>
                        </a:rPr>
                        <a:t>Optimal</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O(n!)</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00222">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Held–Karp</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5A4BD1"/>
                          </a:solidFill>
                          <a:latin typeface="Inter" pitchFamily="34" charset="0"/>
                          <a:ea typeface="Inter" pitchFamily="34" charset="-122"/>
                          <a:cs typeface="Inter" pitchFamily="34" charset="-120"/>
                        </a:rPr>
                        <a:t>Optimal</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O(n²·2ⁿ)</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00222">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Christofides</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At most 1.5× optimal (metric)</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O(n³)</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00222">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2-opt (one pass)</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Local optimum</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O(n²)</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00222">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Nearest neighbour</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C4551F"/>
                          </a:solidFill>
                          <a:latin typeface="Inter" pitchFamily="34" charset="0"/>
                          <a:ea typeface="Inter" pitchFamily="34" charset="-122"/>
                          <a:cs typeface="Inter" pitchFamily="34" charset="-120"/>
                        </a:rPr>
                        <a:t>No guarantee</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240"/>
                        </a:lnSpc>
                        <a:buNone/>
                      </a:pPr>
                      <a:r>
                        <a:rPr lang="en-US" sz="1600" dirty="0">
                          <a:solidFill>
                            <a:srgbClr val="1C1E26"/>
                          </a:solidFill>
                          <a:latin typeface="Inter" pitchFamily="34" charset="0"/>
                          <a:ea typeface="Inter" pitchFamily="34" charset="-122"/>
                          <a:cs typeface="Inter" pitchFamily="34" charset="-120"/>
                        </a:rPr>
                        <a:t>O(n²)</a:t>
                      </a:r>
                      <a:endParaRPr lang="en-US" sz="1600" dirty="0">
                        <a:latin typeface="Inter" charset="0"/>
                        <a:ea typeface="Inter" charset="0"/>
                        <a:cs typeface="Inter" charset="0"/>
                      </a:endParaRPr>
                    </a:p>
                  </a:txBody>
                  <a:tcPr marL="203200" marR="203200" marT="152400" marB="1524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731" y="5593116"/>
            <a:ext cx="10883447" cy="2743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Small n and you need the best? Go exact. Thousands of cities? Build with a heuristic, then improve with 2-opt.</a:t>
            </a:r>
            <a:endParaRPr lang="en-US" sz="1400" dirty="0"/>
          </a:p>
        </p:txBody>
      </p:sp>
      <p:sp>
        <p:nvSpPr>
          <p:cNvPr id="8" name="Text 5"/>
          <p:cNvSpPr/>
          <p:nvPr/>
        </p:nvSpPr>
        <p:spPr>
          <a:xfrm>
            <a:off x="812731" y="6238292"/>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In code: brute force in Python</a:t>
            </a:r>
            <a:endParaRPr lang="en-US" sz="3600" dirty="0"/>
          </a:p>
        </p:txBody>
      </p:sp>
      <p:sp>
        <p:nvSpPr>
          <p:cNvPr id="3" name="Shape 1"/>
          <p:cNvSpPr/>
          <p:nvPr/>
        </p:nvSpPr>
        <p:spPr>
          <a:xfrm>
            <a:off x="812731" y="1620329"/>
            <a:ext cx="7111979" cy="4221730"/>
          </a:xfrm>
          <a:prstGeom prst="roundRect">
            <a:avLst>
              <a:gd name="adj" fmla="val 2407"/>
            </a:avLst>
          </a:prstGeom>
          <a:solidFill>
            <a:srgbClr val="14161F"/>
          </a:solidFill>
          <a:ln/>
        </p:spPr>
      </p:sp>
      <p:sp>
        <p:nvSpPr>
          <p:cNvPr id="4" name="Text 2"/>
          <p:cNvSpPr/>
          <p:nvPr/>
        </p:nvSpPr>
        <p:spPr>
          <a:xfrm>
            <a:off x="1117494" y="2410365"/>
            <a:ext cx="6697527"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A99CFF"/>
                </a:solidFill>
                <a:latin typeface="JetBrains Mono" pitchFamily="49" charset="0"/>
                <a:ea typeface="JetBrains Mono" pitchFamily="49" charset="-122"/>
                <a:cs typeface="JetBrains Mono" pitchFamily="49" charset="-120"/>
              </a:rPr>
              <a:t>from</a:t>
            </a:r>
            <a:r>
              <a:rPr lang="en-US" sz="1300" dirty="0">
                <a:solidFill>
                  <a:srgbClr val="E8E4DA"/>
                </a:solidFill>
                <a:latin typeface="JetBrains Mono" pitchFamily="49" charset="0"/>
                <a:ea typeface="JetBrains Mono" pitchFamily="49" charset="-122"/>
                <a:cs typeface="JetBrains Mono" pitchFamily="49" charset="-120"/>
              </a:rPr>
              <a:t> itertools </a:t>
            </a:r>
            <a:r>
              <a:rPr lang="en-US" sz="1300" dirty="0">
                <a:solidFill>
                  <a:srgbClr val="A99CFF"/>
                </a:solidFill>
                <a:latin typeface="JetBrains Mono" pitchFamily="49" charset="0"/>
                <a:ea typeface="JetBrains Mono" pitchFamily="49" charset="-122"/>
                <a:cs typeface="JetBrains Mono" pitchFamily="49" charset="-120"/>
              </a:rPr>
              <a:t>import</a:t>
            </a:r>
            <a:r>
              <a:rPr lang="en-US" sz="1300" dirty="0">
                <a:solidFill>
                  <a:srgbClr val="E8E4DA"/>
                </a:solidFill>
                <a:latin typeface="JetBrains Mono" pitchFamily="49" charset="0"/>
                <a:ea typeface="JetBrains Mono" pitchFamily="49" charset="-122"/>
                <a:cs typeface="JetBrains Mono" pitchFamily="49" charset="-120"/>
              </a:rPr>
              <a:t> permutations</a:t>
            </a:r>
            <a:endParaRPr lang="en-US" sz="1300" dirty="0"/>
          </a:p>
        </p:txBody>
      </p:sp>
      <p:sp>
        <p:nvSpPr>
          <p:cNvPr id="5" name="Text 3"/>
          <p:cNvSpPr/>
          <p:nvPr/>
        </p:nvSpPr>
        <p:spPr>
          <a:xfrm>
            <a:off x="1117494" y="2674522"/>
            <a:ext cx="6697527"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A99CFF"/>
                </a:solidFill>
                <a:latin typeface="JetBrains Mono" pitchFamily="49" charset="0"/>
                <a:ea typeface="JetBrains Mono" pitchFamily="49" charset="-122"/>
                <a:cs typeface="JetBrains Mono" pitchFamily="49" charset="-120"/>
              </a:rPr>
              <a:t>def</a:t>
            </a:r>
            <a:r>
              <a:rPr lang="en-US" sz="1300" dirty="0">
                <a:solidFill>
                  <a:srgbClr val="E8E4DA"/>
                </a:solidFill>
                <a:latin typeface="JetBrains Mono" pitchFamily="49" charset="0"/>
                <a:ea typeface="JetBrains Mono" pitchFamily="49" charset="-122"/>
                <a:cs typeface="JetBrains Mono" pitchFamily="49" charset="-120"/>
              </a:rPr>
              <a:t> </a:t>
            </a:r>
            <a:r>
              <a:rPr lang="en-US" sz="1300" dirty="0">
                <a:solidFill>
                  <a:srgbClr val="8FB4E0"/>
                </a:solidFill>
                <a:latin typeface="JetBrains Mono" pitchFamily="49" charset="0"/>
                <a:ea typeface="JetBrains Mono" pitchFamily="49" charset="-122"/>
                <a:cs typeface="JetBrains Mono" pitchFamily="49" charset="-120"/>
              </a:rPr>
              <a:t>tsp_brute_force</a:t>
            </a:r>
            <a:r>
              <a:rPr lang="en-US" sz="1300" dirty="0">
                <a:solidFill>
                  <a:srgbClr val="E8E4DA"/>
                </a:solidFill>
                <a:latin typeface="JetBrains Mono" pitchFamily="49" charset="0"/>
                <a:ea typeface="JetBrains Mono" pitchFamily="49" charset="-122"/>
                <a:cs typeface="JetBrains Mono" pitchFamily="49" charset="-120"/>
              </a:rPr>
              <a:t>(d):</a:t>
            </a:r>
            <a:endParaRPr lang="en-US" sz="1300" dirty="0"/>
          </a:p>
        </p:txBody>
      </p:sp>
      <p:sp>
        <p:nvSpPr>
          <p:cNvPr id="6" name="Text 4"/>
          <p:cNvSpPr/>
          <p:nvPr/>
        </p:nvSpPr>
        <p:spPr>
          <a:xfrm>
            <a:off x="1511194" y="2938680"/>
            <a:ext cx="6292016"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8E4DA"/>
                </a:solidFill>
                <a:latin typeface="JetBrains Mono" pitchFamily="49" charset="0"/>
                <a:ea typeface="JetBrains Mono" pitchFamily="49" charset="-122"/>
                <a:cs typeface="JetBrains Mono" pitchFamily="49" charset="-120"/>
              </a:rPr>
              <a:t>n = len(d)</a:t>
            </a:r>
            <a:endParaRPr lang="en-US" sz="1300" dirty="0"/>
          </a:p>
        </p:txBody>
      </p:sp>
      <p:sp>
        <p:nvSpPr>
          <p:cNvPr id="7" name="Text 5"/>
          <p:cNvSpPr/>
          <p:nvPr/>
        </p:nvSpPr>
        <p:spPr>
          <a:xfrm>
            <a:off x="1511194" y="3202837"/>
            <a:ext cx="6292016"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8E4DA"/>
                </a:solidFill>
                <a:latin typeface="JetBrains Mono" pitchFamily="49" charset="0"/>
                <a:ea typeface="JetBrains Mono" pitchFamily="49" charset="-122"/>
                <a:cs typeface="JetBrains Mono" pitchFamily="49" charset="-120"/>
              </a:rPr>
              <a:t>best_cost, best_tour = float('inf'), None</a:t>
            </a:r>
            <a:endParaRPr lang="en-US" sz="1300" dirty="0"/>
          </a:p>
        </p:txBody>
      </p:sp>
      <p:sp>
        <p:nvSpPr>
          <p:cNvPr id="8" name="Text 6"/>
          <p:cNvSpPr/>
          <p:nvPr/>
        </p:nvSpPr>
        <p:spPr>
          <a:xfrm>
            <a:off x="1511194" y="3466995"/>
            <a:ext cx="6292016"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A99CFF"/>
                </a:solidFill>
                <a:latin typeface="JetBrains Mono" pitchFamily="49" charset="0"/>
                <a:ea typeface="JetBrains Mono" pitchFamily="49" charset="-122"/>
                <a:cs typeface="JetBrains Mono" pitchFamily="49" charset="-120"/>
              </a:rPr>
              <a:t>for</a:t>
            </a:r>
            <a:r>
              <a:rPr lang="en-US" sz="1300" dirty="0">
                <a:solidFill>
                  <a:srgbClr val="E8E4DA"/>
                </a:solidFill>
                <a:latin typeface="JetBrains Mono" pitchFamily="49" charset="0"/>
                <a:ea typeface="JetBrains Mono" pitchFamily="49" charset="-122"/>
                <a:cs typeface="JetBrains Mono" pitchFamily="49" charset="-120"/>
              </a:rPr>
              <a:t> perm </a:t>
            </a:r>
            <a:r>
              <a:rPr lang="en-US" sz="1300" dirty="0">
                <a:solidFill>
                  <a:srgbClr val="A99CFF"/>
                </a:solidFill>
                <a:latin typeface="JetBrains Mono" pitchFamily="49" charset="0"/>
                <a:ea typeface="JetBrains Mono" pitchFamily="49" charset="-122"/>
                <a:cs typeface="JetBrains Mono" pitchFamily="49" charset="-120"/>
              </a:rPr>
              <a:t>in</a:t>
            </a:r>
            <a:r>
              <a:rPr lang="en-US" sz="1300" dirty="0">
                <a:solidFill>
                  <a:srgbClr val="E8E4DA"/>
                </a:solidFill>
                <a:latin typeface="JetBrains Mono" pitchFamily="49" charset="0"/>
                <a:ea typeface="JetBrains Mono" pitchFamily="49" charset="-122"/>
                <a:cs typeface="JetBrains Mono" pitchFamily="49" charset="-120"/>
              </a:rPr>
              <a:t> permutations(range(1, n)):</a:t>
            </a:r>
            <a:endParaRPr lang="en-US" sz="1300" dirty="0"/>
          </a:p>
        </p:txBody>
      </p:sp>
      <p:sp>
        <p:nvSpPr>
          <p:cNvPr id="9" name="Text 7"/>
          <p:cNvSpPr/>
          <p:nvPr/>
        </p:nvSpPr>
        <p:spPr>
          <a:xfrm>
            <a:off x="1904894" y="3731152"/>
            <a:ext cx="5886505"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8E4DA"/>
                </a:solidFill>
                <a:latin typeface="JetBrains Mono" pitchFamily="49" charset="0"/>
                <a:ea typeface="JetBrains Mono" pitchFamily="49" charset="-122"/>
                <a:cs typeface="JetBrains Mono" pitchFamily="49" charset="-120"/>
              </a:rPr>
              <a:t>tour = (0,) + perm + (0,)</a:t>
            </a:r>
            <a:endParaRPr lang="en-US" sz="1300" dirty="0"/>
          </a:p>
        </p:txBody>
      </p:sp>
      <p:sp>
        <p:nvSpPr>
          <p:cNvPr id="10" name="Text 8"/>
          <p:cNvSpPr/>
          <p:nvPr/>
        </p:nvSpPr>
        <p:spPr>
          <a:xfrm>
            <a:off x="1904894" y="3995310"/>
            <a:ext cx="5886505"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8E4DA"/>
                </a:solidFill>
                <a:latin typeface="JetBrains Mono" pitchFamily="49" charset="0"/>
                <a:ea typeface="JetBrains Mono" pitchFamily="49" charset="-122"/>
                <a:cs typeface="JetBrains Mono" pitchFamily="49" charset="-120"/>
              </a:rPr>
              <a:t>cost = sum(d[a][b] </a:t>
            </a:r>
            <a:r>
              <a:rPr lang="en-US" sz="1300" dirty="0">
                <a:solidFill>
                  <a:srgbClr val="A99CFF"/>
                </a:solidFill>
                <a:latin typeface="JetBrains Mono" pitchFamily="49" charset="0"/>
                <a:ea typeface="JetBrains Mono" pitchFamily="49" charset="-122"/>
                <a:cs typeface="JetBrains Mono" pitchFamily="49" charset="-120"/>
              </a:rPr>
              <a:t>for</a:t>
            </a:r>
            <a:r>
              <a:rPr lang="en-US" sz="1300" dirty="0">
                <a:solidFill>
                  <a:srgbClr val="E8E4DA"/>
                </a:solidFill>
                <a:latin typeface="JetBrains Mono" pitchFamily="49" charset="0"/>
                <a:ea typeface="JetBrains Mono" pitchFamily="49" charset="-122"/>
                <a:cs typeface="JetBrains Mono" pitchFamily="49" charset="-120"/>
              </a:rPr>
              <a:t> a, b </a:t>
            </a:r>
            <a:r>
              <a:rPr lang="en-US" sz="1300" dirty="0">
                <a:solidFill>
                  <a:srgbClr val="A99CFF"/>
                </a:solidFill>
                <a:latin typeface="JetBrains Mono" pitchFamily="49" charset="0"/>
                <a:ea typeface="JetBrains Mono" pitchFamily="49" charset="-122"/>
                <a:cs typeface="JetBrains Mono" pitchFamily="49" charset="-120"/>
              </a:rPr>
              <a:t>in</a:t>
            </a:r>
            <a:r>
              <a:rPr lang="en-US" sz="1300" dirty="0">
                <a:solidFill>
                  <a:srgbClr val="E8E4DA"/>
                </a:solidFill>
                <a:latin typeface="JetBrains Mono" pitchFamily="49" charset="0"/>
                <a:ea typeface="JetBrains Mono" pitchFamily="49" charset="-122"/>
                <a:cs typeface="JetBrains Mono" pitchFamily="49" charset="-120"/>
              </a:rPr>
              <a:t> zip(tour, tour[1:]))</a:t>
            </a:r>
            <a:endParaRPr lang="en-US" sz="1300" dirty="0"/>
          </a:p>
        </p:txBody>
      </p:sp>
      <p:sp>
        <p:nvSpPr>
          <p:cNvPr id="11" name="Text 9"/>
          <p:cNvSpPr/>
          <p:nvPr/>
        </p:nvSpPr>
        <p:spPr>
          <a:xfrm>
            <a:off x="1904894" y="4259467"/>
            <a:ext cx="5886505"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A99CFF"/>
                </a:solidFill>
                <a:latin typeface="JetBrains Mono" pitchFamily="49" charset="0"/>
                <a:ea typeface="JetBrains Mono" pitchFamily="49" charset="-122"/>
                <a:cs typeface="JetBrains Mono" pitchFamily="49" charset="-120"/>
              </a:rPr>
              <a:t>if</a:t>
            </a:r>
            <a:r>
              <a:rPr lang="en-US" sz="1300" dirty="0">
                <a:solidFill>
                  <a:srgbClr val="E8E4DA"/>
                </a:solidFill>
                <a:latin typeface="JetBrains Mono" pitchFamily="49" charset="0"/>
                <a:ea typeface="JetBrains Mono" pitchFamily="49" charset="-122"/>
                <a:cs typeface="JetBrains Mono" pitchFamily="49" charset="-120"/>
              </a:rPr>
              <a:t> cost &lt; best_cost:</a:t>
            </a:r>
            <a:endParaRPr lang="en-US" sz="1300" dirty="0"/>
          </a:p>
        </p:txBody>
      </p:sp>
      <p:sp>
        <p:nvSpPr>
          <p:cNvPr id="12" name="Text 10"/>
          <p:cNvSpPr/>
          <p:nvPr/>
        </p:nvSpPr>
        <p:spPr>
          <a:xfrm>
            <a:off x="2298594" y="4523625"/>
            <a:ext cx="5480994"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E8E4DA"/>
                </a:solidFill>
                <a:latin typeface="JetBrains Mono" pitchFamily="49" charset="0"/>
                <a:ea typeface="JetBrains Mono" pitchFamily="49" charset="-122"/>
                <a:cs typeface="JetBrains Mono" pitchFamily="49" charset="-120"/>
              </a:rPr>
              <a:t>best_cost, best_tour = cost, tour</a:t>
            </a:r>
            <a:endParaRPr lang="en-US" sz="1300" dirty="0"/>
          </a:p>
        </p:txBody>
      </p:sp>
      <p:sp>
        <p:nvSpPr>
          <p:cNvPr id="13" name="Text 11"/>
          <p:cNvSpPr/>
          <p:nvPr/>
        </p:nvSpPr>
        <p:spPr>
          <a:xfrm>
            <a:off x="1511194" y="4787782"/>
            <a:ext cx="6292016" cy="289557"/>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A99CFF"/>
                </a:solidFill>
                <a:latin typeface="JetBrains Mono" pitchFamily="49" charset="0"/>
                <a:ea typeface="JetBrains Mono" pitchFamily="49" charset="-122"/>
                <a:cs typeface="JetBrains Mono" pitchFamily="49" charset="-120"/>
              </a:rPr>
              <a:t>return</a:t>
            </a:r>
            <a:r>
              <a:rPr lang="en-US" sz="1300" dirty="0">
                <a:solidFill>
                  <a:srgbClr val="E8E4DA"/>
                </a:solidFill>
                <a:latin typeface="JetBrains Mono" pitchFamily="49" charset="0"/>
                <a:ea typeface="JetBrains Mono" pitchFamily="49" charset="-122"/>
                <a:cs typeface="JetBrains Mono" pitchFamily="49" charset="-120"/>
              </a:rPr>
              <a:t> best_cost, best_tour</a:t>
            </a:r>
            <a:endParaRPr lang="en-US" sz="1300" dirty="0"/>
          </a:p>
        </p:txBody>
      </p:sp>
      <p:sp>
        <p:nvSpPr>
          <p:cNvPr id="14" name="Shape 12"/>
          <p:cNvSpPr/>
          <p:nvPr/>
        </p:nvSpPr>
        <p:spPr>
          <a:xfrm>
            <a:off x="8232648" y="1623504"/>
            <a:ext cx="3143361" cy="1393908"/>
          </a:xfrm>
          <a:prstGeom prst="roundRect">
            <a:avLst>
              <a:gd name="adj" fmla="val 5239"/>
            </a:avLst>
          </a:prstGeom>
          <a:solidFill>
            <a:srgbClr val="FFFFFF"/>
          </a:solidFill>
          <a:ln w="6350">
            <a:solidFill>
              <a:srgbClr val="E2DDD1"/>
            </a:solidFill>
            <a:prstDash val="solid"/>
          </a:ln>
        </p:spPr>
      </p:sp>
      <p:sp>
        <p:nvSpPr>
          <p:cNvPr id="15" name="Text 13"/>
          <p:cNvSpPr/>
          <p:nvPr/>
        </p:nvSpPr>
        <p:spPr>
          <a:xfrm>
            <a:off x="8438155" y="1829011"/>
            <a:ext cx="2814317" cy="238778"/>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E26"/>
                </a:solidFill>
                <a:latin typeface="Inter" pitchFamily="34" charset="0"/>
                <a:ea typeface="Inter" pitchFamily="34" charset="-122"/>
                <a:cs typeface="Inter" pitchFamily="34" charset="-120"/>
              </a:rPr>
              <a:t>How it works</a:t>
            </a:r>
            <a:endParaRPr lang="en-US" sz="1400" dirty="0"/>
          </a:p>
        </p:txBody>
      </p:sp>
      <p:sp>
        <p:nvSpPr>
          <p:cNvPr id="16" name="Text 14"/>
          <p:cNvSpPr/>
          <p:nvPr/>
        </p:nvSpPr>
        <p:spPr>
          <a:xfrm>
            <a:off x="8438155" y="2118562"/>
            <a:ext cx="2814317" cy="71874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04A"/>
                </a:solidFill>
                <a:latin typeface="Inter" pitchFamily="34" charset="0"/>
                <a:ea typeface="Inter" pitchFamily="34" charset="-122"/>
                <a:cs typeface="Inter" pitchFamily="34" charset="-120"/>
              </a:rPr>
              <a:t>Fix city 0 as the start, try every order of the others, keep the cheapest.</a:t>
            </a:r>
            <a:endParaRPr lang="en-US" sz="1300" dirty="0"/>
          </a:p>
        </p:txBody>
      </p:sp>
      <p:sp>
        <p:nvSpPr>
          <p:cNvPr id="17" name="Shape 15"/>
          <p:cNvSpPr/>
          <p:nvPr/>
        </p:nvSpPr>
        <p:spPr>
          <a:xfrm>
            <a:off x="8232648" y="4681134"/>
            <a:ext cx="3143361" cy="1157749"/>
          </a:xfrm>
          <a:prstGeom prst="roundRect">
            <a:avLst>
              <a:gd name="adj" fmla="val 6307"/>
            </a:avLst>
          </a:prstGeom>
          <a:solidFill>
            <a:srgbClr val="FFFFFF"/>
          </a:solidFill>
          <a:ln w="6350">
            <a:solidFill>
              <a:srgbClr val="E2DDD1"/>
            </a:solidFill>
            <a:prstDash val="solid"/>
          </a:ln>
        </p:spPr>
      </p:sp>
      <p:sp>
        <p:nvSpPr>
          <p:cNvPr id="18" name="Text 16"/>
          <p:cNvSpPr/>
          <p:nvPr/>
        </p:nvSpPr>
        <p:spPr>
          <a:xfrm>
            <a:off x="8438155" y="4886641"/>
            <a:ext cx="2814317" cy="238778"/>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C1E26"/>
                </a:solidFill>
                <a:latin typeface="Inter" pitchFamily="34" charset="0"/>
                <a:ea typeface="Inter" pitchFamily="34" charset="-122"/>
                <a:cs typeface="Inter" pitchFamily="34" charset="-120"/>
              </a:rPr>
              <a:t>Our example</a:t>
            </a:r>
            <a:endParaRPr lang="en-US" sz="1400" dirty="0"/>
          </a:p>
        </p:txBody>
      </p:sp>
      <p:sp>
        <p:nvSpPr>
          <p:cNvPr id="19" name="Text 17"/>
          <p:cNvSpPr/>
          <p:nvPr/>
        </p:nvSpPr>
        <p:spPr>
          <a:xfrm>
            <a:off x="8438155" y="5176193"/>
            <a:ext cx="2814317" cy="482588"/>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D404A"/>
                </a:solidFill>
                <a:latin typeface="JetBrains Mono" pitchFamily="49" charset="0"/>
                <a:ea typeface="JetBrains Mono" pitchFamily="49" charset="-122"/>
                <a:cs typeface="JetBrains Mono" pitchFamily="49" charset="-120"/>
              </a:rPr>
              <a:t>A, B, C, D = 0, 1, 2, 3</a:t>
            </a:r>
            <a:endParaRPr lang="en-US" sz="1200" dirty="0"/>
          </a:p>
          <a:p>
            <a:pPr algn="l" indent="0" marL="0">
              <a:lnSpc>
                <a:spcPts val="1800"/>
              </a:lnSpc>
              <a:buNone/>
            </a:pPr>
            <a:r>
              <a:rPr lang="en-US" sz="1200" dirty="0">
                <a:solidFill>
                  <a:srgbClr val="3D404A"/>
                </a:solidFill>
                <a:latin typeface="JetBrains Mono" pitchFamily="49" charset="0"/>
                <a:ea typeface="JetBrains Mono" pitchFamily="49" charset="-122"/>
                <a:cs typeface="JetBrains Mono" pitchFamily="49" charset="-120"/>
              </a:rPr>
              <a:t>→ (80, (0, 1, 3, 2, 0))</a:t>
            </a:r>
            <a:endParaRPr lang="en-US" sz="1200" dirty="0"/>
          </a:p>
        </p:txBody>
      </p:sp>
      <p:sp>
        <p:nvSpPr>
          <p:cNvPr id="20" name="Text 18"/>
          <p:cNvSpPr/>
          <p:nvPr/>
        </p:nvSpPr>
        <p:spPr>
          <a:xfrm>
            <a:off x="812731" y="623829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2823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C1E26"/>
                </a:solidFill>
                <a:latin typeface="Space Grotesk" pitchFamily="34" charset="0"/>
                <a:ea typeface="Space Grotesk" pitchFamily="34" charset="-122"/>
                <a:cs typeface="Space Grotesk" pitchFamily="34" charset="-120"/>
              </a:rPr>
              <a:t>Where it shows up</a:t>
            </a:r>
            <a:endParaRPr lang="en-US" sz="3600" dirty="0"/>
          </a:p>
        </p:txBody>
      </p:sp>
      <p:sp>
        <p:nvSpPr>
          <p:cNvPr id="3" name="Shape 1"/>
          <p:cNvSpPr/>
          <p:nvPr/>
        </p:nvSpPr>
        <p:spPr>
          <a:xfrm>
            <a:off x="815906" y="1623510"/>
            <a:ext cx="5175318" cy="2002913"/>
          </a:xfrm>
          <a:prstGeom prst="roundRect">
            <a:avLst>
              <a:gd name="adj" fmla="val 4914"/>
            </a:avLst>
          </a:prstGeom>
          <a:solidFill>
            <a:srgbClr val="FFFFFF"/>
          </a:solidFill>
          <a:ln w="6350">
            <a:solidFill>
              <a:srgbClr val="E2DDD1"/>
            </a:solidFill>
            <a:prstDash val="solid"/>
          </a:ln>
        </p:spPr>
      </p:sp>
      <p:pic>
        <p:nvPicPr>
          <p:cNvPr id="4" name="Image 0" descr="PaperPlane">    </p:cNvPr>
          <p:cNvPicPr>
            <a:picLocks noChangeAspect="1"/>
          </p:cNvPicPr>
          <p:nvPr/>
        </p:nvPicPr>
        <p:blipFill>
          <a:blip r:embed="rId1"/>
          <a:srcRect l="0" r="0" t="0" b="0"/>
          <a:stretch/>
        </p:blipFill>
        <p:spPr>
          <a:xfrm>
            <a:off x="1123058" y="2396368"/>
            <a:ext cx="457188" cy="457188"/>
          </a:xfrm>
          <a:prstGeom prst="rect">
            <a:avLst/>
          </a:prstGeom>
        </p:spPr>
      </p:pic>
      <p:sp>
        <p:nvSpPr>
          <p:cNvPr id="5" name="Text 2"/>
          <p:cNvSpPr/>
          <p:nvPr/>
        </p:nvSpPr>
        <p:spPr>
          <a:xfrm>
            <a:off x="1783364" y="2200815"/>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Delivery and logistics</a:t>
            </a:r>
            <a:endParaRPr lang="en-US" sz="1800" dirty="0"/>
          </a:p>
        </p:txBody>
      </p:sp>
      <p:sp>
        <p:nvSpPr>
          <p:cNvPr id="6" name="Text 3"/>
          <p:cNvSpPr/>
          <p:nvPr/>
        </p:nvSpPr>
        <p:spPr>
          <a:xfrm>
            <a:off x="1783364" y="255123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Planning routes for couriers, service vans and school buses.</a:t>
            </a:r>
            <a:endParaRPr lang="en-US" sz="1400" dirty="0"/>
          </a:p>
        </p:txBody>
      </p:sp>
      <p:sp>
        <p:nvSpPr>
          <p:cNvPr id="7" name="Shape 4"/>
          <p:cNvSpPr/>
          <p:nvPr/>
        </p:nvSpPr>
        <p:spPr>
          <a:xfrm>
            <a:off x="6200691" y="1623510"/>
            <a:ext cx="5175318" cy="2002913"/>
          </a:xfrm>
          <a:prstGeom prst="roundRect">
            <a:avLst>
              <a:gd name="adj" fmla="val 4914"/>
            </a:avLst>
          </a:prstGeom>
          <a:solidFill>
            <a:srgbClr val="FFFFFF"/>
          </a:solidFill>
          <a:ln w="6350">
            <a:solidFill>
              <a:srgbClr val="E2DDD1"/>
            </a:solidFill>
            <a:prstDash val="solid"/>
          </a:ln>
        </p:spPr>
      </p:sp>
      <p:pic>
        <p:nvPicPr>
          <p:cNvPr id="8" name="Image 1" descr="Tool">    </p:cNvPr>
          <p:cNvPicPr>
            <a:picLocks noChangeAspect="1"/>
          </p:cNvPicPr>
          <p:nvPr/>
        </p:nvPicPr>
        <p:blipFill>
          <a:blip r:embed="rId2"/>
          <a:srcRect l="0" r="0" t="0" b="0"/>
          <a:stretch/>
        </p:blipFill>
        <p:spPr>
          <a:xfrm>
            <a:off x="6507844" y="2396368"/>
            <a:ext cx="457188" cy="457188"/>
          </a:xfrm>
          <a:prstGeom prst="rect">
            <a:avLst/>
          </a:prstGeom>
        </p:spPr>
      </p:pic>
      <p:sp>
        <p:nvSpPr>
          <p:cNvPr id="9" name="Text 5"/>
          <p:cNvSpPr/>
          <p:nvPr/>
        </p:nvSpPr>
        <p:spPr>
          <a:xfrm>
            <a:off x="7168149" y="2200815"/>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Manufacturing</a:t>
            </a:r>
            <a:endParaRPr lang="en-US" sz="1800" dirty="0"/>
          </a:p>
        </p:txBody>
      </p:sp>
      <p:sp>
        <p:nvSpPr>
          <p:cNvPr id="10" name="Text 6"/>
          <p:cNvSpPr/>
          <p:nvPr/>
        </p:nvSpPr>
        <p:spPr>
          <a:xfrm>
            <a:off x="7168149" y="255123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Ordering the holes a machine drills in a circuit board to cut travel time.</a:t>
            </a:r>
            <a:endParaRPr lang="en-US" sz="1400" dirty="0"/>
          </a:p>
        </p:txBody>
      </p:sp>
      <p:sp>
        <p:nvSpPr>
          <p:cNvPr id="11" name="Shape 7"/>
          <p:cNvSpPr/>
          <p:nvPr/>
        </p:nvSpPr>
        <p:spPr>
          <a:xfrm>
            <a:off x="815906" y="3835890"/>
            <a:ext cx="5175318" cy="2003000"/>
          </a:xfrm>
          <a:prstGeom prst="roundRect">
            <a:avLst>
              <a:gd name="adj" fmla="val 4914"/>
            </a:avLst>
          </a:prstGeom>
          <a:solidFill>
            <a:srgbClr val="FFFFFF"/>
          </a:solidFill>
          <a:ln w="6350">
            <a:solidFill>
              <a:srgbClr val="E2DDD1"/>
            </a:solidFill>
            <a:prstDash val="solid"/>
          </a:ln>
        </p:spPr>
      </p:sp>
      <p:pic>
        <p:nvPicPr>
          <p:cNvPr id="12" name="Image 2" descr="Search">    </p:cNvPr>
          <p:cNvPicPr>
            <a:picLocks noChangeAspect="1"/>
          </p:cNvPicPr>
          <p:nvPr/>
        </p:nvPicPr>
        <p:blipFill>
          <a:blip r:embed="rId3"/>
          <a:srcRect l="0" r="0" t="0" b="0"/>
          <a:stretch/>
        </p:blipFill>
        <p:spPr>
          <a:xfrm>
            <a:off x="1123058" y="4608748"/>
            <a:ext cx="457188" cy="457188"/>
          </a:xfrm>
          <a:prstGeom prst="rect">
            <a:avLst/>
          </a:prstGeom>
        </p:spPr>
      </p:pic>
      <p:sp>
        <p:nvSpPr>
          <p:cNvPr id="13" name="Text 8"/>
          <p:cNvSpPr/>
          <p:nvPr/>
        </p:nvSpPr>
        <p:spPr>
          <a:xfrm>
            <a:off x="1783364" y="4413194"/>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Genome mapping</a:t>
            </a:r>
            <a:endParaRPr lang="en-US" sz="1800" dirty="0"/>
          </a:p>
        </p:txBody>
      </p:sp>
      <p:sp>
        <p:nvSpPr>
          <p:cNvPr id="14" name="Text 9"/>
          <p:cNvSpPr/>
          <p:nvPr/>
        </p:nvSpPr>
        <p:spPr>
          <a:xfrm>
            <a:off x="1783364" y="476361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Ordering DNA markers so neighbouring ones are most alike.</a:t>
            </a:r>
            <a:endParaRPr lang="en-US" sz="1400" dirty="0"/>
          </a:p>
        </p:txBody>
      </p:sp>
      <p:sp>
        <p:nvSpPr>
          <p:cNvPr id="15" name="Shape 10"/>
          <p:cNvSpPr/>
          <p:nvPr/>
        </p:nvSpPr>
        <p:spPr>
          <a:xfrm>
            <a:off x="6200691" y="3835890"/>
            <a:ext cx="5175318" cy="2003000"/>
          </a:xfrm>
          <a:prstGeom prst="roundRect">
            <a:avLst>
              <a:gd name="adj" fmla="val 4914"/>
            </a:avLst>
          </a:prstGeom>
          <a:solidFill>
            <a:srgbClr val="FFFFFF"/>
          </a:solidFill>
          <a:ln w="6350">
            <a:solidFill>
              <a:srgbClr val="E2DDD1"/>
            </a:solidFill>
            <a:prstDash val="solid"/>
          </a:ln>
        </p:spPr>
      </p:sp>
      <p:pic>
        <p:nvPicPr>
          <p:cNvPr id="16" name="Image 3" descr="Clock">    </p:cNvPr>
          <p:cNvPicPr>
            <a:picLocks noChangeAspect="1"/>
          </p:cNvPicPr>
          <p:nvPr/>
        </p:nvPicPr>
        <p:blipFill>
          <a:blip r:embed="rId4"/>
          <a:srcRect l="0" r="0" t="0" b="0"/>
          <a:stretch/>
        </p:blipFill>
        <p:spPr>
          <a:xfrm>
            <a:off x="6507844" y="4608748"/>
            <a:ext cx="457188" cy="457188"/>
          </a:xfrm>
          <a:prstGeom prst="rect">
            <a:avLst/>
          </a:prstGeom>
        </p:spPr>
      </p:pic>
      <p:sp>
        <p:nvSpPr>
          <p:cNvPr id="17" name="Text 11"/>
          <p:cNvSpPr/>
          <p:nvPr/>
        </p:nvSpPr>
        <p:spPr>
          <a:xfrm>
            <a:off x="7168149" y="4413194"/>
            <a:ext cx="4017728" cy="29964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1E26"/>
                </a:solidFill>
                <a:latin typeface="Inter" pitchFamily="34" charset="0"/>
                <a:ea typeface="Inter" pitchFamily="34" charset="-122"/>
                <a:cs typeface="Inter" pitchFamily="34" charset="-120"/>
              </a:rPr>
              <a:t>Scheduling</a:t>
            </a:r>
            <a:endParaRPr lang="en-US" sz="1800" dirty="0"/>
          </a:p>
        </p:txBody>
      </p:sp>
      <p:sp>
        <p:nvSpPr>
          <p:cNvPr id="18" name="Text 12"/>
          <p:cNvSpPr/>
          <p:nvPr/>
        </p:nvSpPr>
        <p:spPr>
          <a:xfrm>
            <a:off x="7168149" y="4763610"/>
            <a:ext cx="4017728" cy="5232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04A"/>
                </a:solidFill>
                <a:latin typeface="Inter" pitchFamily="34" charset="0"/>
                <a:ea typeface="Inter" pitchFamily="34" charset="-122"/>
                <a:cs typeface="Inter" pitchFamily="34" charset="-120"/>
              </a:rPr>
              <a:t>Sequencing jobs where switching cost depends on what ran before.</a:t>
            </a:r>
            <a:endParaRPr lang="en-US" sz="1400" dirty="0"/>
          </a:p>
        </p:txBody>
      </p:sp>
      <p:sp>
        <p:nvSpPr>
          <p:cNvPr id="19" name="Text 13"/>
          <p:cNvSpPr/>
          <p:nvPr/>
        </p:nvSpPr>
        <p:spPr>
          <a:xfrm>
            <a:off x="812731" y="6238298"/>
            <a:ext cx="2616122" cy="23877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5F6B"/>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F"/>
        </a:solidFill>
      </p:bgPr>
    </p:bg>
    <p:spTree>
      <p:nvGrpSpPr>
        <p:cNvPr id="1" name=""/>
        <p:cNvGrpSpPr/>
        <p:nvPr/>
      </p:nvGrpSpPr>
      <p:grpSpPr>
        <a:xfrm>
          <a:off x="0" y="0"/>
          <a:ext cx="0" cy="0"/>
          <a:chOff x="0" y="0"/>
          <a:chExt cx="0" cy="0"/>
        </a:xfrm>
      </p:grpSpPr>
      <p:sp>
        <p:nvSpPr>
          <p:cNvPr id="2" name="Text 0"/>
          <p:cNvSpPr/>
          <p:nvPr>
            <p:ph type="title"/>
          </p:nvPr>
        </p:nvSpPr>
        <p:spPr>
          <a:xfrm>
            <a:off x="812731" y="812732"/>
            <a:ext cx="10883447" cy="584147"/>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5F2EA"/>
                </a:solidFill>
                <a:latin typeface="Space Grotesk" pitchFamily="34" charset="0"/>
                <a:ea typeface="Space Grotesk" pitchFamily="34" charset="-122"/>
                <a:cs typeface="Space Grotesk" pitchFamily="34" charset="-120"/>
              </a:rPr>
              <a:t>Key takeaways</a:t>
            </a:r>
            <a:endParaRPr lang="en-US" sz="4000" dirty="0"/>
          </a:p>
        </p:txBody>
      </p:sp>
      <p:sp>
        <p:nvSpPr>
          <p:cNvPr id="3" name="Shape 1"/>
          <p:cNvSpPr/>
          <p:nvPr/>
        </p:nvSpPr>
        <p:spPr>
          <a:xfrm>
            <a:off x="812731" y="3075068"/>
            <a:ext cx="10566453" cy="0"/>
          </a:xfrm>
          <a:prstGeom prst="line">
            <a:avLst/>
          </a:prstGeom>
          <a:noFill/>
          <a:ln w="6350">
            <a:solidFill>
              <a:srgbClr val="33374A"/>
            </a:solidFill>
            <a:prstDash val="solid"/>
          </a:ln>
        </p:spPr>
      </p:sp>
      <p:sp>
        <p:nvSpPr>
          <p:cNvPr id="4" name="Text 2"/>
          <p:cNvSpPr/>
          <p:nvPr/>
        </p:nvSpPr>
        <p:spPr>
          <a:xfrm>
            <a:off x="812731" y="3325093"/>
            <a:ext cx="558767"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F"/>
                </a:solidFill>
                <a:latin typeface="JetBrains Mono" pitchFamily="49" charset="0"/>
                <a:ea typeface="JetBrains Mono" pitchFamily="49" charset="-122"/>
                <a:cs typeface="JetBrains Mono" pitchFamily="49" charset="-120"/>
              </a:rPr>
              <a:t>01</a:t>
            </a:r>
            <a:endParaRPr lang="en-US" sz="1600" dirty="0"/>
          </a:p>
        </p:txBody>
      </p:sp>
      <p:sp>
        <p:nvSpPr>
          <p:cNvPr id="5" name="Text 3"/>
          <p:cNvSpPr/>
          <p:nvPr/>
        </p:nvSpPr>
        <p:spPr>
          <a:xfrm>
            <a:off x="1574682" y="3280575"/>
            <a:ext cx="8884544" cy="355553"/>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2EA"/>
                </a:solidFill>
                <a:latin typeface="Inter" pitchFamily="34" charset="0"/>
                <a:ea typeface="Inter" pitchFamily="34" charset="-122"/>
                <a:cs typeface="Inter" pitchFamily="34" charset="-120"/>
              </a:rPr>
              <a:t>Shortest round trip through every city: easy to state, NP-hard.</a:t>
            </a:r>
            <a:endParaRPr lang="en-US" sz="2000" dirty="0"/>
          </a:p>
        </p:txBody>
      </p:sp>
      <p:sp>
        <p:nvSpPr>
          <p:cNvPr id="6" name="Shape 4"/>
          <p:cNvSpPr/>
          <p:nvPr/>
        </p:nvSpPr>
        <p:spPr>
          <a:xfrm>
            <a:off x="812731" y="3817020"/>
            <a:ext cx="10566453" cy="0"/>
          </a:xfrm>
          <a:prstGeom prst="line">
            <a:avLst/>
          </a:prstGeom>
          <a:noFill/>
          <a:ln w="6350">
            <a:solidFill>
              <a:srgbClr val="33374A"/>
            </a:solidFill>
            <a:prstDash val="solid"/>
          </a:ln>
        </p:spPr>
      </p:sp>
      <p:sp>
        <p:nvSpPr>
          <p:cNvPr id="7" name="Text 5"/>
          <p:cNvSpPr/>
          <p:nvPr/>
        </p:nvSpPr>
        <p:spPr>
          <a:xfrm>
            <a:off x="812731" y="4067045"/>
            <a:ext cx="558767"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F"/>
                </a:solidFill>
                <a:latin typeface="JetBrains Mono" pitchFamily="49" charset="0"/>
                <a:ea typeface="JetBrains Mono" pitchFamily="49" charset="-122"/>
                <a:cs typeface="JetBrains Mono" pitchFamily="49" charset="-120"/>
              </a:rPr>
              <a:t>02</a:t>
            </a:r>
            <a:endParaRPr lang="en-US" sz="1600" dirty="0"/>
          </a:p>
        </p:txBody>
      </p:sp>
      <p:sp>
        <p:nvSpPr>
          <p:cNvPr id="8" name="Text 6"/>
          <p:cNvSpPr/>
          <p:nvPr/>
        </p:nvSpPr>
        <p:spPr>
          <a:xfrm>
            <a:off x="1574682" y="4022527"/>
            <a:ext cx="6814625" cy="355553"/>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2EA"/>
                </a:solidFill>
                <a:latin typeface="Inter" pitchFamily="34" charset="0"/>
                <a:ea typeface="Inter" pitchFamily="34" charset="-122"/>
                <a:cs typeface="Inter" pitchFamily="34" charset="-120"/>
              </a:rPr>
              <a:t>Tours grow as (n−1)!/2, so brute force fails fast.</a:t>
            </a:r>
            <a:endParaRPr lang="en-US" sz="2000" dirty="0"/>
          </a:p>
        </p:txBody>
      </p:sp>
      <p:sp>
        <p:nvSpPr>
          <p:cNvPr id="9" name="Shape 7"/>
          <p:cNvSpPr/>
          <p:nvPr/>
        </p:nvSpPr>
        <p:spPr>
          <a:xfrm>
            <a:off x="812731" y="4558971"/>
            <a:ext cx="10566453" cy="0"/>
          </a:xfrm>
          <a:prstGeom prst="line">
            <a:avLst/>
          </a:prstGeom>
          <a:noFill/>
          <a:ln w="6350">
            <a:solidFill>
              <a:srgbClr val="33374A"/>
            </a:solidFill>
            <a:prstDash val="solid"/>
          </a:ln>
        </p:spPr>
      </p:sp>
      <p:sp>
        <p:nvSpPr>
          <p:cNvPr id="10" name="Text 8"/>
          <p:cNvSpPr/>
          <p:nvPr/>
        </p:nvSpPr>
        <p:spPr>
          <a:xfrm>
            <a:off x="812731" y="4808996"/>
            <a:ext cx="558767"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F"/>
                </a:solidFill>
                <a:latin typeface="JetBrains Mono" pitchFamily="49" charset="0"/>
                <a:ea typeface="JetBrains Mono" pitchFamily="49" charset="-122"/>
                <a:cs typeface="JetBrains Mono" pitchFamily="49" charset="-120"/>
              </a:rPr>
              <a:t>03</a:t>
            </a:r>
            <a:endParaRPr lang="en-US" sz="1600" dirty="0"/>
          </a:p>
        </p:txBody>
      </p:sp>
      <p:sp>
        <p:nvSpPr>
          <p:cNvPr id="11" name="Text 9"/>
          <p:cNvSpPr/>
          <p:nvPr/>
        </p:nvSpPr>
        <p:spPr>
          <a:xfrm>
            <a:off x="1574682" y="4764478"/>
            <a:ext cx="4853846" cy="355553"/>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2EA"/>
                </a:solidFill>
                <a:latin typeface="Inter" pitchFamily="34" charset="0"/>
                <a:ea typeface="Inter" pitchFamily="34" charset="-122"/>
                <a:cs typeface="Inter" pitchFamily="34" charset="-120"/>
              </a:rPr>
              <a:t>Held–Karp DP is exact in O(n²·2ⁿ).</a:t>
            </a:r>
            <a:endParaRPr lang="en-US" sz="2000" dirty="0"/>
          </a:p>
        </p:txBody>
      </p:sp>
      <p:sp>
        <p:nvSpPr>
          <p:cNvPr id="12" name="Shape 10"/>
          <p:cNvSpPr/>
          <p:nvPr/>
        </p:nvSpPr>
        <p:spPr>
          <a:xfrm>
            <a:off x="812731" y="5300923"/>
            <a:ext cx="10566453" cy="0"/>
          </a:xfrm>
          <a:prstGeom prst="line">
            <a:avLst/>
          </a:prstGeom>
          <a:noFill/>
          <a:ln w="6350">
            <a:solidFill>
              <a:srgbClr val="33374A"/>
            </a:solidFill>
            <a:prstDash val="solid"/>
          </a:ln>
        </p:spPr>
      </p:sp>
      <p:sp>
        <p:nvSpPr>
          <p:cNvPr id="13" name="Shape 11"/>
          <p:cNvSpPr/>
          <p:nvPr/>
        </p:nvSpPr>
        <p:spPr>
          <a:xfrm>
            <a:off x="812731" y="6042090"/>
            <a:ext cx="10566453" cy="0"/>
          </a:xfrm>
          <a:prstGeom prst="line">
            <a:avLst/>
          </a:prstGeom>
          <a:noFill/>
          <a:ln w="6350">
            <a:solidFill>
              <a:srgbClr val="33374A"/>
            </a:solidFill>
            <a:prstDash val="solid"/>
          </a:ln>
        </p:spPr>
      </p:sp>
      <p:sp>
        <p:nvSpPr>
          <p:cNvPr id="14" name="Text 12"/>
          <p:cNvSpPr/>
          <p:nvPr/>
        </p:nvSpPr>
        <p:spPr>
          <a:xfrm>
            <a:off x="812731" y="5550954"/>
            <a:ext cx="558767" cy="30981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99CFF"/>
                </a:solidFill>
                <a:latin typeface="JetBrains Mono" pitchFamily="49" charset="0"/>
                <a:ea typeface="JetBrains Mono" pitchFamily="49" charset="-122"/>
                <a:cs typeface="JetBrains Mono" pitchFamily="49" charset="-120"/>
              </a:rPr>
              <a:t>04</a:t>
            </a:r>
            <a:endParaRPr lang="en-US" sz="1600" dirty="0"/>
          </a:p>
        </p:txBody>
      </p:sp>
      <p:sp>
        <p:nvSpPr>
          <p:cNvPr id="15" name="Text 13"/>
          <p:cNvSpPr/>
          <p:nvPr/>
        </p:nvSpPr>
        <p:spPr>
          <a:xfrm>
            <a:off x="1574682" y="5506436"/>
            <a:ext cx="6983762" cy="355553"/>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F2EA"/>
                </a:solidFill>
                <a:latin typeface="Inter" pitchFamily="34" charset="0"/>
                <a:ea typeface="Inter" pitchFamily="34" charset="-122"/>
                <a:cs typeface="Inter" pitchFamily="34" charset="-120"/>
              </a:rPr>
              <a:t>At scale: build with a heuristic, polish with 2-opt.</a:t>
            </a:r>
            <a:endParaRPr lang="en-US" sz="2000" dirty="0"/>
          </a:p>
        </p:txBody>
      </p:sp>
    </p:spTree>
  </p:cSld>
  <p:clrMapOvr>
    <a:masterClrMapping/>
  </p:clrMapOvr>
</p:sld>
</file>

<file path=ppt/theme/theme1.xml><?xml version="1.0" encoding="utf-8"?>
<a:theme xmlns:a="http://schemas.openxmlformats.org/drawingml/2006/main" name="The Travelling Salesman Problem">
  <a:themeElements>
    <a:clrScheme name="The Travelling Salesman Problem">
      <a:dk1>
        <a:srgbClr val="1C1E26"/>
      </a:dk1>
      <a:lt1>
        <a:srgbClr val="F5F2EA"/>
      </a:lt1>
      <a:dk2>
        <a:srgbClr val="525357"/>
      </a:dk2>
      <a:lt2>
        <a:srgbClr val="DFDDD6"/>
      </a:lt2>
      <a:accent1>
        <a:srgbClr val="5A4BD1"/>
      </a:accent1>
      <a:accent2>
        <a:srgbClr val="A99CFF"/>
      </a:accent2>
      <a:accent3>
        <a:srgbClr val="C4551F"/>
      </a:accent3>
      <a:accent4>
        <a:srgbClr val="3A6EA5"/>
      </a:accent4>
      <a:accent5>
        <a:srgbClr val="8FB4E0"/>
      </a:accent5>
      <a:accent6>
        <a:srgbClr val="F0A274"/>
      </a:accent6>
      <a:hlink>
        <a:srgbClr val="0563C1"/>
      </a:hlink>
      <a:folHlink>
        <a:srgbClr val="954F72"/>
      </a:folHlink>
    </a:clrScheme>
    <a:fontScheme name="The Travelling Salesman Problem">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Travelling Salesman Problem</dc:title>
  <dc:subject/>
  <dc:creator/>
  <cp:lastModifiedBy/>
  <cp:revision>1</cp:revision>
  <dcterms:created xsi:type="dcterms:W3CDTF">2026-10-13T10:06:54Z</dcterms:created>
  <dcterms:modified xsi:type="dcterms:W3CDTF">2026-10-13T10:06:54Z</dcterms:modified>
</cp:coreProperties>
</file>